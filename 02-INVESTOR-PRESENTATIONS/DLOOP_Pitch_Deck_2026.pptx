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0B7A7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Dl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14B8A6"/>
                </a:solidFill>
              </a:rPr>
              <a:t>SEED PITCH · 2026 · RISERVATO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68580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 sistema operativo
</a:t>
            </a:r>
            <a:pPr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 delivery locale
</a:t>
            </a:r>
            <a:pPr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italiano.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93192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8CB3CC"/>
                </a:solidFill>
              </a:rPr>
              <a:t>Dloop è la piattaforma SaaS B2B per operatori di delivery locale in Italia.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8CB3CC"/>
                </a:solidFill>
              </a:rPr>
              <a:t>WhatsApp nativo · Modello P.IVA · Pricing accessibile alle PMI.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5029200"/>
            <a:ext cx="2560320" cy="777240"/>
          </a:xfrm>
          <a:prstGeom prst="rect">
            <a:avLst/>
          </a:prstGeom>
          <a:solidFill>
            <a:srgbClr val="0D2D4A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507492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Azienda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57200" y="528523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CAV S.R.L. — Startup Innovativa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91840" y="5029200"/>
            <a:ext cx="2560320" cy="777240"/>
          </a:xfrm>
          <a:prstGeom prst="rect">
            <a:avLst/>
          </a:prstGeom>
          <a:solidFill>
            <a:srgbClr val="0D2D4A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91840" y="507492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Mercato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3291840" y="528523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Italia · Campania first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26480" y="5029200"/>
            <a:ext cx="2560320" cy="777240"/>
          </a:xfrm>
          <a:prstGeom prst="rect">
            <a:avLst/>
          </a:prstGeom>
          <a:solidFill>
            <a:srgbClr val="0D2D4A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6480" y="507492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Fase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126480" y="528523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Pre-revenue · MVP pronto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961120" y="5029200"/>
            <a:ext cx="2560320" cy="777240"/>
          </a:xfrm>
          <a:prstGeom prst="rect">
            <a:avLst/>
          </a:prstGeom>
          <a:solidFill>
            <a:srgbClr val="0D2D4A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61120" y="507492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Ask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961120" y="528523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€ 90.000 – € 150.000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789920" y="63093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455"/>
                </a:solidFill>
              </a:rPr>
              <a:t>01 / 12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14B8A6"/>
                </a:solidFill>
              </a:rPr>
              <a:t>IL PROBLEMA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7315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inefficienze che frenano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 delivery locale italiano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920240"/>
            <a:ext cx="3520440" cy="320040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20574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📱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26517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Zero strumenti dedicati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15468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CB3CC"/>
                </a:solidFill>
              </a:rPr>
              <a:t>Merchant gestiscono ordini via WhatsApp personale, telefono e carta. Zero tracciabilità, zero analytics, errori continui.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1920240"/>
            <a:ext cx="3520440" cy="320040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480560" y="20574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🏍️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480560" y="26517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Rider senza sistema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480560" y="315468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CB3CC"/>
                </a:solidFill>
              </a:rPr>
              <a:t>I rider P.IVA ricevono incarichi via messaggi informali. Nessuna app, nessuna prova di consegna, nessun percorso ottimizzato.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138160" y="1920240"/>
            <a:ext cx="3520440" cy="320040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321040" y="20574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💸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8321040" y="26517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Software globali inaccessibili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321040" y="315468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CB3CC"/>
                </a:solidFill>
              </a:rPr>
              <a:t>Onfleet, Tookan, LogiNext: $500+/mese in inglese, zero localizzazione IT, nessun supporto al modello P.IVA autonomo.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5303520"/>
            <a:ext cx="11247120" cy="777240"/>
          </a:xfrm>
          <a:prstGeom prst="rect">
            <a:avLst/>
          </a:prstGeom>
          <a:solidFill>
            <a:srgbClr val="1A2D20"/>
          </a:solidFill>
          <a:ln w="12700">
            <a:solidFill>
              <a:srgbClr val="2D7A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53766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7EC8A0"/>
                </a:solidFill>
              </a:rPr>
              <a:t>⚡  Gap di mercato: 45.000+ attività delivery attive in Campania. Solo il 3-5% usa software dedicato. Nessun player offre una soluzione verticale italiana con prezzi PMI.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789920" y="63093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455"/>
                </a:solidFill>
              </a:rPr>
              <a:t>02 / 12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F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14B8A6"/>
                </a:solidFill>
              </a:rPr>
              <a:t>LA SOLUZIONE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7315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Dloop — tutto il delivery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un'unica piattaforma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947672"/>
            <a:ext cx="146304" cy="146304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87452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DD8E8"/>
                </a:solidFill>
              </a:rPr>
              <a:t>Dashboard web per merchant: ordini, assegnazione rider, tracking live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2587752"/>
            <a:ext cx="146304" cy="146304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51460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DD8E8"/>
                </a:solidFill>
              </a:rPr>
              <a:t>App Flutter per rider P.IVA: ordini, navigazione, prova di consegna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3227832"/>
            <a:ext cx="146304" cy="146304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15468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DD8E8"/>
                </a:solidFill>
              </a:rPr>
              <a:t>WhatsApp Business via Twilio: notifiche ordine real-time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3867912"/>
            <a:ext cx="146304" cy="146304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379476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DD8E8"/>
                </a:solidFill>
              </a:rPr>
              <a:t>PostGIS + Supabase: routing geografico e zone di consegna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4507992"/>
            <a:ext cx="146304" cy="146304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43484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DD8E8"/>
                </a:solidFill>
              </a:rPr>
              <a:t>Bot WhatsApp AI: raccolta ordini senza app dedicata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5074920"/>
            <a:ext cx="5760720" cy="868680"/>
          </a:xfrm>
          <a:prstGeom prst="rect">
            <a:avLst/>
          </a:prstGeom>
          <a:solidFill>
            <a:srgbClr val="0A2A2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5138928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7EC8A0"/>
                </a:solidFill>
              </a:rPr>
              <a:t>⚖️  Vantaggio legale: Dloop è puro SaaS — i rider fatturano P.IVA → Merchant.</a:t>
            </a:r>
            <a:endParaRPr lang="en-US" sz="10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7EC8A0"/>
                </a:solidFill>
              </a:rPr>
              <a:t>Nessun rischio lavoro subordinato, zero liability Dloop (modello BlaBlaCar).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766560" y="1645920"/>
            <a:ext cx="4846320" cy="4389120"/>
          </a:xfrm>
          <a:prstGeom prst="roundRect">
            <a:avLst>
              <a:gd name="adj" fmla="val 3125"/>
            </a:avLst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949440" y="1783080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14B8A6"/>
                </a:solidFill>
              </a:rPr>
              <a:t>DLOOP · NOTIFICA ORDINE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949440" y="2103120"/>
            <a:ext cx="4480560" cy="1508760"/>
          </a:xfrm>
          <a:prstGeom prst="rect">
            <a:avLst/>
          </a:prstGeom>
          <a:solidFill>
            <a:srgbClr val="0D2D3A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49440" y="2103120"/>
            <a:ext cx="45720" cy="1508760"/>
          </a:xfrm>
          <a:prstGeom prst="rect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086600" y="2148840"/>
            <a:ext cx="4251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C8E8F0"/>
                </a:solidFill>
              </a:rPr>
              <a:t>🛍️  Nuovo ordine #1042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C8E8F0"/>
                </a:solidFill>
              </a:rPr>
              <a:t>Pizza Roma — €34,50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C8E8F0"/>
                </a:solidFill>
              </a:rPr>
              <a:t>Via Garibaldi 12, Napoli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C8E8F0"/>
                </a:solidFill>
              </a:rPr>
              <a:t>Rider: Marco R. ⭐4.8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C8E8F0"/>
                </a:solidFill>
              </a:rPr>
              <a:t>ETA consegna: 22 min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949440" y="3749040"/>
            <a:ext cx="4480560" cy="822960"/>
          </a:xfrm>
          <a:prstGeom prst="rect">
            <a:avLst/>
          </a:prstGeom>
          <a:solidFill>
            <a:srgbClr val="1A2535"/>
          </a:solidFill>
          <a:ln w="12700">
            <a:solidFill>
              <a:srgbClr val="33445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995160" y="379476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CB3CC"/>
                </a:solidFill>
              </a:rPr>
              <a:t>✅  Confermato</a:t>
            </a:r>
            <a:endParaRPr lang="en-US" sz="1000" dirty="0"/>
          </a:p>
          <a:p>
            <a:pPr algn="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CB3CC"/>
                </a:solidFill>
              </a:rPr>
              <a:t>Rispondi STOP per disattivare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949440" y="47091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4455"/>
                </a:solidFill>
              </a:rPr>
              <a:t>via Twilio · WhatsApp Business API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789920" y="63093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455"/>
                </a:solidFill>
              </a:rPr>
              <a:t>03 / 12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14B8A6"/>
                </a:solidFill>
              </a:rPr>
              <a:t>MERCATO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mercato frammentato,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senza ancora un leader verticale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920240"/>
            <a:ext cx="3520440" cy="2377440"/>
          </a:xfrm>
          <a:prstGeom prst="rect">
            <a:avLst/>
          </a:prstGeom>
          <a:solidFill>
            <a:srgbClr val="0A2A2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05740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€2,1B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288036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CB3CC"/>
                </a:solidFill>
              </a:rPr>
              <a:t>Mercato delivery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CB3CC"/>
                </a:solidFill>
              </a:rPr>
              <a:t>locale Italia 2025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474720"/>
            <a:ext cx="2971800" cy="9144"/>
          </a:xfrm>
          <a:prstGeom prst="rect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3520440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4B8A6"/>
                </a:solidFill>
              </a:rPr>
              <a:t>SOM target: €12M/anno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48640" y="3822192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4A7A8A"/>
                </a:solidFill>
              </a:rPr>
              <a:t>Fonte: Statista / Casaleggio Assoc. 2025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297680" y="1920240"/>
            <a:ext cx="3520440" cy="2377440"/>
          </a:xfrm>
          <a:prstGeom prst="rect">
            <a:avLst/>
          </a:prstGeom>
          <a:solidFill>
            <a:srgbClr val="0A2A2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97680" y="205740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45K+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4297680" y="288036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CB3CC"/>
                </a:solidFill>
              </a:rPr>
              <a:t>Attività delivery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CB3CC"/>
                </a:solidFill>
              </a:rPr>
              <a:t>Napoli + Caserta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0" y="3474720"/>
            <a:ext cx="2971800" cy="9144"/>
          </a:xfrm>
          <a:prstGeom prst="rect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7680" y="3520440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4B8A6"/>
                </a:solidFill>
              </a:rPr>
              <a:t>Solo 3-5% usa software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389120" y="3822192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4A7A8A"/>
                </a:solidFill>
              </a:rPr>
              <a:t>Fonte: ISTAT / CCIAA Napoli 2025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8138160" y="1920240"/>
            <a:ext cx="3520440" cy="2377440"/>
          </a:xfrm>
          <a:prstGeom prst="rect">
            <a:avLst/>
          </a:prstGeom>
          <a:solidFill>
            <a:srgbClr val="0A2A2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38160" y="205740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€310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8138160" y="288036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CB3CC"/>
                </a:solidFill>
              </a:rPr>
              <a:t>Revenue media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CB3CC"/>
                </a:solidFill>
              </a:rPr>
              <a:t>per dealer/mese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412480" y="3474720"/>
            <a:ext cx="2971800" cy="9144"/>
          </a:xfrm>
          <a:prstGeom prst="rect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38160" y="3520440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4B8A6"/>
                </a:solidFill>
              </a:rPr>
              <a:t>LTV: €7.440 (24 mesi)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229600" y="3822192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4A7A8A"/>
                </a:solidFill>
              </a:rPr>
              <a:t>Fonte: stima interna Dloop su dati CCIAA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457200" y="4297680"/>
            <a:ext cx="5577840" cy="128016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4352544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🏆  Risparmio vs Alfonsino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" y="4956048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CB3CC"/>
                </a:solidFill>
              </a:rPr>
              <a:t>Un dealer Dloop risparmia +€17.790/anno rispetto ad Alfonsino (marketplace 25-30%). Dloop è puro SaaS — zero commissioni sugli ordini.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09360" y="4297680"/>
            <a:ext cx="5349240" cy="128016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92240" y="4352544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🌍  Espansione geografica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92240" y="4636008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8CB3CC"/>
                </a:solidFill>
              </a:rPr>
              <a:t>Campania → Sud Italia M12 → Nazionale M18. Ogni provincia è un mercato autonomo replicabile.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0789920" y="63093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455"/>
                </a:solidFill>
              </a:rPr>
              <a:t>04 / 12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F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14B8A6"/>
                </a:solidFill>
              </a:rPr>
              <a:t>ANALISI COMPETITIVA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9144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Nessun competitor ha il posizionamento di Dloop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481328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7A8A"/>
                </a:solidFill>
              </a:rPr>
              <a:t>Fonti: Capterra IT 2025  ·  G2.com  ·  siti ufficiali Onfleet / Tookan / LogiNext  ·  pricing pubblico Glovo / Deliveroo / Alfonsino / Uber Eats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2011680" cy="411480"/>
          </a:xfrm>
          <a:prstGeom prst="rect">
            <a:avLst/>
          </a:prstGeom>
          <a:solidFill>
            <a:srgbClr val="0A2A4A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8288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4B8A6"/>
                </a:solidFill>
              </a:rPr>
              <a:t>Player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68880" y="1828800"/>
            <a:ext cx="1554480" cy="411480"/>
          </a:xfrm>
          <a:prstGeom prst="rect">
            <a:avLst/>
          </a:prstGeom>
          <a:solidFill>
            <a:srgbClr val="0A2A4A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68880" y="18288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4B8A6"/>
                </a:solidFill>
              </a:rPr>
              <a:t>Pricing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023360" y="1828800"/>
            <a:ext cx="1234440" cy="411480"/>
          </a:xfrm>
          <a:prstGeom prst="rect">
            <a:avLst/>
          </a:prstGeom>
          <a:solidFill>
            <a:srgbClr val="0A2A4A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23360" y="182880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4B8A6"/>
                </a:solidFill>
              </a:rPr>
              <a:t>WhatsApp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4B8A6"/>
                </a:solidFill>
              </a:rPr>
              <a:t>nativo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257800" y="1828800"/>
            <a:ext cx="1234440" cy="411480"/>
          </a:xfrm>
          <a:prstGeom prst="rect">
            <a:avLst/>
          </a:prstGeom>
          <a:solidFill>
            <a:srgbClr val="0A2A4A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57800" y="182880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4B8A6"/>
                </a:solidFill>
              </a:rPr>
              <a:t>Modello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4B8A6"/>
                </a:solidFill>
              </a:rPr>
              <a:t>P.IVA IT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492240" y="1828800"/>
            <a:ext cx="1097280" cy="411480"/>
          </a:xfrm>
          <a:prstGeom prst="rect">
            <a:avLst/>
          </a:prstGeom>
          <a:solidFill>
            <a:srgbClr val="0A2A4A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0" y="182880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4B8A6"/>
                </a:solidFill>
              </a:rPr>
              <a:t>In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4B8A6"/>
                </a:solidFill>
              </a:rPr>
              <a:t>Italiano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589520" y="1828800"/>
            <a:ext cx="1097280" cy="411480"/>
          </a:xfrm>
          <a:prstGeom prst="rect">
            <a:avLst/>
          </a:prstGeom>
          <a:solidFill>
            <a:srgbClr val="0A2A4A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89520" y="182880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4B8A6"/>
                </a:solidFill>
              </a:rPr>
              <a:t>PMI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4B8A6"/>
                </a:solidFill>
              </a:rPr>
              <a:t>ready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8686800" y="1828800"/>
            <a:ext cx="1097280" cy="411480"/>
          </a:xfrm>
          <a:prstGeom prst="rect">
            <a:avLst/>
          </a:prstGeom>
          <a:solidFill>
            <a:srgbClr val="0A2A4A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0" y="182880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4B8A6"/>
                </a:solidFill>
              </a:rPr>
              <a:t>SaaS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4B8A6"/>
                </a:solidFill>
              </a:rPr>
              <a:t>puro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212848"/>
            <a:ext cx="2011680" cy="402336"/>
          </a:xfrm>
          <a:prstGeom prst="rect">
            <a:avLst/>
          </a:prstGeom>
          <a:solidFill>
            <a:srgbClr val="0A2A2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2212848"/>
            <a:ext cx="54864" cy="402336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2212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🟢 Dloop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468880" y="2212848"/>
            <a:ext cx="1554480" cy="402336"/>
          </a:xfrm>
          <a:prstGeom prst="rect">
            <a:avLst/>
          </a:prstGeom>
          <a:solidFill>
            <a:srgbClr val="0A2A2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468880" y="2212848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€39–€499/mese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023360" y="2212848"/>
            <a:ext cx="1234440" cy="402336"/>
          </a:xfrm>
          <a:prstGeom prst="rect">
            <a:avLst/>
          </a:prstGeom>
          <a:solidFill>
            <a:srgbClr val="0A2A2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023360" y="2212848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257800" y="2212848"/>
            <a:ext cx="1234440" cy="402336"/>
          </a:xfrm>
          <a:prstGeom prst="rect">
            <a:avLst/>
          </a:prstGeom>
          <a:solidFill>
            <a:srgbClr val="0A2A2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257800" y="2212848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92240" y="2212848"/>
            <a:ext cx="1097280" cy="402336"/>
          </a:xfrm>
          <a:prstGeom prst="rect">
            <a:avLst/>
          </a:prstGeom>
          <a:solidFill>
            <a:srgbClr val="0A2A2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92240" y="2212848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589520" y="2212848"/>
            <a:ext cx="1097280" cy="402336"/>
          </a:xfrm>
          <a:prstGeom prst="rect">
            <a:avLst/>
          </a:prstGeom>
          <a:solidFill>
            <a:srgbClr val="0A2A2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589520" y="2212848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686800" y="2212848"/>
            <a:ext cx="1097280" cy="402336"/>
          </a:xfrm>
          <a:prstGeom prst="rect">
            <a:avLst/>
          </a:prstGeom>
          <a:solidFill>
            <a:srgbClr val="0A2A2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686800" y="2212848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57200" y="2615184"/>
            <a:ext cx="11155680" cy="256032"/>
          </a:xfrm>
          <a:prstGeom prst="rect">
            <a:avLst/>
          </a:prstGeom>
          <a:solidFill>
            <a:srgbClr val="0A152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8640" y="2615184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4A8A9A"/>
                </a:solidFill>
              </a:rPr>
              <a:t>— SaaS B2B —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57200" y="2871216"/>
            <a:ext cx="201168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2871216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Onfleet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468880" y="2871216"/>
            <a:ext cx="155448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468880" y="2871216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B3CC"/>
                </a:solidFill>
              </a:rPr>
              <a:t>$500+/mese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023360" y="2871216"/>
            <a:ext cx="123444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023360" y="2871216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5257800" y="2871216"/>
            <a:ext cx="123444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257800" y="2871216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492240" y="2871216"/>
            <a:ext cx="109728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92240" y="2871216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7589520" y="2871216"/>
            <a:ext cx="109728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89520" y="2871216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8686800" y="2871216"/>
            <a:ext cx="109728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686800" y="2871216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457200" y="3273552"/>
            <a:ext cx="2011680" cy="402336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7200" y="3273552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Tookan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2468880" y="3273552"/>
            <a:ext cx="1554480" cy="402336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468880" y="3273552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B3CC"/>
                </a:solidFill>
              </a:rPr>
              <a:t>$99–$299/mese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4023360" y="3273552"/>
            <a:ext cx="1234440" cy="402336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023360" y="3273552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5257800" y="3273552"/>
            <a:ext cx="1234440" cy="402336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257800" y="3273552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492240" y="3273552"/>
            <a:ext cx="1097280" cy="402336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492240" y="3273552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7589520" y="3273552"/>
            <a:ext cx="1097280" cy="402336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589520" y="3273552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9E0B"/>
                </a:solidFill>
              </a:rPr>
              <a:t>~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8686800" y="3273552"/>
            <a:ext cx="1097280" cy="402336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686800" y="3273552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</a:t>
            </a:r>
            <a:endParaRPr lang="en-US" sz="1200" dirty="0"/>
          </a:p>
        </p:txBody>
      </p:sp>
      <p:sp>
        <p:nvSpPr>
          <p:cNvPr id="64" name="Shape 62"/>
          <p:cNvSpPr/>
          <p:nvPr/>
        </p:nvSpPr>
        <p:spPr>
          <a:xfrm>
            <a:off x="457200" y="3675888"/>
            <a:ext cx="201168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57200" y="367588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LogiNext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2468880" y="3675888"/>
            <a:ext cx="155448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2468880" y="3675888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B3CC"/>
                </a:solidFill>
              </a:rPr>
              <a:t>Enterprise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4023360" y="3675888"/>
            <a:ext cx="123444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023360" y="3675888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70" name="Shape 68"/>
          <p:cNvSpPr/>
          <p:nvPr/>
        </p:nvSpPr>
        <p:spPr>
          <a:xfrm>
            <a:off x="5257800" y="3675888"/>
            <a:ext cx="123444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257800" y="3675888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72" name="Shape 70"/>
          <p:cNvSpPr/>
          <p:nvPr/>
        </p:nvSpPr>
        <p:spPr>
          <a:xfrm>
            <a:off x="6492240" y="3675888"/>
            <a:ext cx="109728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6492240" y="3675888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74" name="Shape 72"/>
          <p:cNvSpPr/>
          <p:nvPr/>
        </p:nvSpPr>
        <p:spPr>
          <a:xfrm>
            <a:off x="7589520" y="3675888"/>
            <a:ext cx="109728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7589520" y="3675888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76" name="Shape 74"/>
          <p:cNvSpPr/>
          <p:nvPr/>
        </p:nvSpPr>
        <p:spPr>
          <a:xfrm>
            <a:off x="8686800" y="3675888"/>
            <a:ext cx="109728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8686800" y="3675888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457200" y="4078224"/>
            <a:ext cx="11155680" cy="256032"/>
          </a:xfrm>
          <a:prstGeom prst="rect">
            <a:avLst/>
          </a:prstGeom>
          <a:solidFill>
            <a:srgbClr val="0A152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548640" y="4078224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4A8A9A"/>
                </a:solidFill>
              </a:rPr>
              <a:t>— Marketplace —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457200" y="4334256"/>
            <a:ext cx="201168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57200" y="4334256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Glovo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2468880" y="4334256"/>
            <a:ext cx="155448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2468880" y="4334256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B3CC"/>
                </a:solidFill>
              </a:rPr>
              <a:t>25-30% comm.</a:t>
            </a:r>
            <a:endParaRPr lang="en-US" sz="1200" dirty="0"/>
          </a:p>
        </p:txBody>
      </p:sp>
      <p:sp>
        <p:nvSpPr>
          <p:cNvPr id="84" name="Shape 82"/>
          <p:cNvSpPr/>
          <p:nvPr/>
        </p:nvSpPr>
        <p:spPr>
          <a:xfrm>
            <a:off x="4023360" y="4334256"/>
            <a:ext cx="123444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023360" y="4334256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9E0B"/>
                </a:solidFill>
              </a:rPr>
              <a:t>~</a:t>
            </a:r>
            <a:endParaRPr lang="en-US" sz="1200" dirty="0"/>
          </a:p>
        </p:txBody>
      </p:sp>
      <p:sp>
        <p:nvSpPr>
          <p:cNvPr id="86" name="Shape 84"/>
          <p:cNvSpPr/>
          <p:nvPr/>
        </p:nvSpPr>
        <p:spPr>
          <a:xfrm>
            <a:off x="5257800" y="4334256"/>
            <a:ext cx="123444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5257800" y="4334256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88" name="Shape 86"/>
          <p:cNvSpPr/>
          <p:nvPr/>
        </p:nvSpPr>
        <p:spPr>
          <a:xfrm>
            <a:off x="6492240" y="4334256"/>
            <a:ext cx="109728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6492240" y="4334256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</a:t>
            </a:r>
            <a:endParaRPr lang="en-US" sz="1200" dirty="0"/>
          </a:p>
        </p:txBody>
      </p:sp>
      <p:sp>
        <p:nvSpPr>
          <p:cNvPr id="90" name="Shape 88"/>
          <p:cNvSpPr/>
          <p:nvPr/>
        </p:nvSpPr>
        <p:spPr>
          <a:xfrm>
            <a:off x="7589520" y="4334256"/>
            <a:ext cx="109728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7589520" y="4334256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9E0B"/>
                </a:solidFill>
              </a:rPr>
              <a:t>~</a:t>
            </a:r>
            <a:endParaRPr lang="en-US" sz="1200" dirty="0"/>
          </a:p>
        </p:txBody>
      </p:sp>
      <p:sp>
        <p:nvSpPr>
          <p:cNvPr id="92" name="Shape 90"/>
          <p:cNvSpPr/>
          <p:nvPr/>
        </p:nvSpPr>
        <p:spPr>
          <a:xfrm>
            <a:off x="8686800" y="4334256"/>
            <a:ext cx="109728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8686800" y="4334256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94" name="Shape 92"/>
          <p:cNvSpPr/>
          <p:nvPr/>
        </p:nvSpPr>
        <p:spPr>
          <a:xfrm>
            <a:off x="457200" y="4736592"/>
            <a:ext cx="2011680" cy="402336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457200" y="4736592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Deliveroo / Just Eat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2468880" y="4736592"/>
            <a:ext cx="1554480" cy="402336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2468880" y="4736592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B3CC"/>
                </a:solidFill>
              </a:rPr>
              <a:t>25-30% comm.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4023360" y="4736592"/>
            <a:ext cx="1234440" cy="402336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023360" y="4736592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100" name="Shape 98"/>
          <p:cNvSpPr/>
          <p:nvPr/>
        </p:nvSpPr>
        <p:spPr>
          <a:xfrm>
            <a:off x="5257800" y="4736592"/>
            <a:ext cx="1234440" cy="402336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5257800" y="4736592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102" name="Shape 100"/>
          <p:cNvSpPr/>
          <p:nvPr/>
        </p:nvSpPr>
        <p:spPr>
          <a:xfrm>
            <a:off x="6492240" y="4736592"/>
            <a:ext cx="1097280" cy="402336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6492240" y="4736592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</a:t>
            </a:r>
            <a:endParaRPr lang="en-US" sz="1200" dirty="0"/>
          </a:p>
        </p:txBody>
      </p:sp>
      <p:sp>
        <p:nvSpPr>
          <p:cNvPr id="104" name="Shape 102"/>
          <p:cNvSpPr/>
          <p:nvPr/>
        </p:nvSpPr>
        <p:spPr>
          <a:xfrm>
            <a:off x="7589520" y="4736592"/>
            <a:ext cx="1097280" cy="402336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7589520" y="4736592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9E0B"/>
                </a:solidFill>
              </a:rPr>
              <a:t>~</a:t>
            </a:r>
            <a:endParaRPr lang="en-US" sz="1200" dirty="0"/>
          </a:p>
        </p:txBody>
      </p:sp>
      <p:sp>
        <p:nvSpPr>
          <p:cNvPr id="106" name="Shape 104"/>
          <p:cNvSpPr/>
          <p:nvPr/>
        </p:nvSpPr>
        <p:spPr>
          <a:xfrm>
            <a:off x="8686800" y="4736592"/>
            <a:ext cx="1097280" cy="402336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8686800" y="4736592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108" name="Shape 106"/>
          <p:cNvSpPr/>
          <p:nvPr/>
        </p:nvSpPr>
        <p:spPr>
          <a:xfrm>
            <a:off x="457200" y="5138928"/>
            <a:ext cx="201168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57200" y="513892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Alfonsino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2468880" y="5138928"/>
            <a:ext cx="155448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2468880" y="5138928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B3CC"/>
                </a:solidFill>
              </a:rPr>
              <a:t>25-30% comm.</a:t>
            </a:r>
            <a:endParaRPr lang="en-US" sz="1200" dirty="0"/>
          </a:p>
        </p:txBody>
      </p:sp>
      <p:sp>
        <p:nvSpPr>
          <p:cNvPr id="112" name="Shape 110"/>
          <p:cNvSpPr/>
          <p:nvPr/>
        </p:nvSpPr>
        <p:spPr>
          <a:xfrm>
            <a:off x="4023360" y="5138928"/>
            <a:ext cx="123444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4023360" y="5138928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9E0B"/>
                </a:solidFill>
              </a:rPr>
              <a:t>~</a:t>
            </a:r>
            <a:endParaRPr lang="en-US" sz="1200" dirty="0"/>
          </a:p>
        </p:txBody>
      </p:sp>
      <p:sp>
        <p:nvSpPr>
          <p:cNvPr id="114" name="Shape 112"/>
          <p:cNvSpPr/>
          <p:nvPr/>
        </p:nvSpPr>
        <p:spPr>
          <a:xfrm>
            <a:off x="5257800" y="5138928"/>
            <a:ext cx="123444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5257800" y="5138928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116" name="Shape 114"/>
          <p:cNvSpPr/>
          <p:nvPr/>
        </p:nvSpPr>
        <p:spPr>
          <a:xfrm>
            <a:off x="6492240" y="5138928"/>
            <a:ext cx="109728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6492240" y="5138928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</a:t>
            </a:r>
            <a:endParaRPr lang="en-US" sz="1200" dirty="0"/>
          </a:p>
        </p:txBody>
      </p:sp>
      <p:sp>
        <p:nvSpPr>
          <p:cNvPr id="118" name="Shape 116"/>
          <p:cNvSpPr/>
          <p:nvPr/>
        </p:nvSpPr>
        <p:spPr>
          <a:xfrm>
            <a:off x="7589520" y="5138928"/>
            <a:ext cx="109728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7589520" y="5138928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9E0B"/>
                </a:solidFill>
              </a:rPr>
              <a:t>~</a:t>
            </a:r>
            <a:endParaRPr lang="en-US" sz="1200" dirty="0"/>
          </a:p>
        </p:txBody>
      </p:sp>
      <p:sp>
        <p:nvSpPr>
          <p:cNvPr id="120" name="Shape 118"/>
          <p:cNvSpPr/>
          <p:nvPr/>
        </p:nvSpPr>
        <p:spPr>
          <a:xfrm>
            <a:off x="8686800" y="5138928"/>
            <a:ext cx="109728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8686800" y="5138928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122" name="Shape 120"/>
          <p:cNvSpPr/>
          <p:nvPr/>
        </p:nvSpPr>
        <p:spPr>
          <a:xfrm>
            <a:off x="457200" y="5541264"/>
            <a:ext cx="2011680" cy="402336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457200" y="5541264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Uber Eats</a:t>
            </a:r>
            <a:endParaRPr lang="en-US" sz="1000" dirty="0"/>
          </a:p>
        </p:txBody>
      </p:sp>
      <p:sp>
        <p:nvSpPr>
          <p:cNvPr id="124" name="Shape 122"/>
          <p:cNvSpPr/>
          <p:nvPr/>
        </p:nvSpPr>
        <p:spPr>
          <a:xfrm>
            <a:off x="2468880" y="5541264"/>
            <a:ext cx="1554480" cy="402336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2468880" y="5541264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B3CC"/>
                </a:solidFill>
              </a:rPr>
              <a:t>25-30% comm.</a:t>
            </a:r>
            <a:endParaRPr lang="en-US" sz="1200" dirty="0"/>
          </a:p>
        </p:txBody>
      </p:sp>
      <p:sp>
        <p:nvSpPr>
          <p:cNvPr id="126" name="Shape 124"/>
          <p:cNvSpPr/>
          <p:nvPr/>
        </p:nvSpPr>
        <p:spPr>
          <a:xfrm>
            <a:off x="4023360" y="5541264"/>
            <a:ext cx="1234440" cy="402336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4023360" y="5541264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5257800" y="5541264"/>
            <a:ext cx="1234440" cy="402336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5257800" y="5541264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130" name="Shape 128"/>
          <p:cNvSpPr/>
          <p:nvPr/>
        </p:nvSpPr>
        <p:spPr>
          <a:xfrm>
            <a:off x="6492240" y="5541264"/>
            <a:ext cx="1097280" cy="402336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6492240" y="5541264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</a:t>
            </a:r>
            <a:endParaRPr lang="en-US" sz="1200" dirty="0"/>
          </a:p>
        </p:txBody>
      </p:sp>
      <p:sp>
        <p:nvSpPr>
          <p:cNvPr id="132" name="Shape 130"/>
          <p:cNvSpPr/>
          <p:nvPr/>
        </p:nvSpPr>
        <p:spPr>
          <a:xfrm>
            <a:off x="7589520" y="5541264"/>
            <a:ext cx="1097280" cy="402336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7589520" y="5541264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134" name="Shape 132"/>
          <p:cNvSpPr/>
          <p:nvPr/>
        </p:nvSpPr>
        <p:spPr>
          <a:xfrm>
            <a:off x="8686800" y="5541264"/>
            <a:ext cx="1097280" cy="402336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8686800" y="5541264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136" name="Text 134"/>
          <p:cNvSpPr/>
          <p:nvPr/>
        </p:nvSpPr>
        <p:spPr>
          <a:xfrm>
            <a:off x="457200" y="608076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4455"/>
                </a:solidFill>
              </a:rPr>
              <a:t>✓ = sì  |  ✗ = no  |  ~ = parziale</a:t>
            </a:r>
            <a:endParaRPr lang="en-US" sz="800" dirty="0"/>
          </a:p>
        </p:txBody>
      </p:sp>
      <p:sp>
        <p:nvSpPr>
          <p:cNvPr id="137" name="Text 135"/>
          <p:cNvSpPr/>
          <p:nvPr/>
        </p:nvSpPr>
        <p:spPr>
          <a:xfrm>
            <a:off x="10789920" y="63093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455"/>
                </a:solidFill>
              </a:rPr>
              <a:t>05 / 12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14B8A6"/>
                </a:solidFill>
              </a:rPr>
              <a:t>POSIZIONAMENTO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Dloop occupa il quadrante unico non presidiato da nessun competitor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5623560" cy="228600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80760" y="1417320"/>
            <a:ext cx="5623560" cy="2286000"/>
          </a:xfrm>
          <a:prstGeom prst="rect">
            <a:avLst/>
          </a:prstGeom>
          <a:solidFill>
            <a:srgbClr val="0A2A2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3703320"/>
            <a:ext cx="5623560" cy="2286000"/>
          </a:xfrm>
          <a:prstGeom prst="rect">
            <a:avLst/>
          </a:prstGeom>
          <a:solidFill>
            <a:srgbClr val="0A152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80760" y="3703320"/>
            <a:ext cx="5623560" cy="2286000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50876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334455"/>
                </a:solidFill>
              </a:rPr>
              <a:t>MARKETPLACE LOCALE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217920" y="15087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B7A75"/>
                </a:solidFill>
              </a:rPr>
              <a:t>SaaS LOCALE  ★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94360" y="379476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334455"/>
                </a:solidFill>
              </a:rPr>
              <a:t>MARKETPLACE GLOBALE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217920" y="37947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334455"/>
                </a:solidFill>
              </a:rPr>
              <a:t>SAAS GLOBALE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11247120" cy="0"/>
          </a:xfrm>
          <a:prstGeom prst="line">
            <a:avLst/>
          </a:prstGeom>
          <a:noFill/>
          <a:ln w="12700">
            <a:solidFill>
              <a:srgbClr val="3344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80760" y="1417320"/>
            <a:ext cx="0" cy="4572000"/>
          </a:xfrm>
          <a:prstGeom prst="line">
            <a:avLst/>
          </a:prstGeom>
          <a:noFill/>
          <a:ln w="12700">
            <a:solidFill>
              <a:srgbClr val="3344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447288"/>
            <a:ext cx="11247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4A6A7A"/>
                </a:solidFill>
              </a:rPr>
              <a:t>← MARKETPLACE          MODELLO          SAAS PURO →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172200" y="180136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6A7A"/>
                </a:solidFill>
              </a:rPr>
              <a:t>↑ LOCALE / PMI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172200" y="405079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6A7A"/>
                </a:solidFill>
              </a:rPr>
              <a:t>↓ GLOBALE / ENTERPRISE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09937" y="2265883"/>
            <a:ext cx="201168" cy="201168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238537" y="2201875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</a:rPr>
              <a:t>🟢 DLOOP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862822" y="4725162"/>
            <a:ext cx="118872" cy="118872"/>
          </a:xfrm>
          <a:prstGeom prst="ellipse">
            <a:avLst/>
          </a:prstGeom>
          <a:solidFill>
            <a:srgbClr val="8CB3CC"/>
          </a:solidFill>
          <a:ln w="12700">
            <a:solidFill>
              <a:srgbClr val="8CB3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013698" y="462000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Onfleet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087868" y="4233672"/>
            <a:ext cx="118872" cy="118872"/>
          </a:xfrm>
          <a:prstGeom prst="ellipse">
            <a:avLst/>
          </a:prstGeom>
          <a:solidFill>
            <a:srgbClr val="8CB3CC"/>
          </a:solidFill>
          <a:ln w="12700">
            <a:solidFill>
              <a:srgbClr val="8CB3C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38744" y="412851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Tookan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121140" y="5059375"/>
            <a:ext cx="118872" cy="118872"/>
          </a:xfrm>
          <a:prstGeom prst="ellipse">
            <a:avLst/>
          </a:prstGeom>
          <a:solidFill>
            <a:srgbClr val="8CB3CC"/>
          </a:solidFill>
          <a:ln w="12700">
            <a:solidFill>
              <a:srgbClr val="8CB3C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272016" y="4954219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LogiNext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818181" y="4528566"/>
            <a:ext cx="118872" cy="118872"/>
          </a:xfrm>
          <a:prstGeom prst="ellipse">
            <a:avLst/>
          </a:prstGeom>
          <a:solidFill>
            <a:srgbClr val="8899AA"/>
          </a:solidFill>
          <a:ln w="12700">
            <a:solidFill>
              <a:srgbClr val="8899A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69057" y="442341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</a:rPr>
              <a:t>Glovo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24835" y="4823460"/>
            <a:ext cx="118872" cy="118872"/>
          </a:xfrm>
          <a:prstGeom prst="ellipse">
            <a:avLst/>
          </a:prstGeom>
          <a:solidFill>
            <a:srgbClr val="8899AA"/>
          </a:solidFill>
          <a:ln w="12700">
            <a:solidFill>
              <a:srgbClr val="8899A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175711" y="471830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</a:rPr>
              <a:t>Deliveroo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179826" y="5059375"/>
            <a:ext cx="118872" cy="118872"/>
          </a:xfrm>
          <a:prstGeom prst="ellipse">
            <a:avLst/>
          </a:prstGeom>
          <a:solidFill>
            <a:srgbClr val="8899AA"/>
          </a:solidFill>
          <a:ln w="12700">
            <a:solidFill>
              <a:srgbClr val="8899A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330702" y="4954219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</a:rPr>
              <a:t>Uber Eats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438144" y="4725162"/>
            <a:ext cx="118872" cy="118872"/>
          </a:xfrm>
          <a:prstGeom prst="ellipse">
            <a:avLst/>
          </a:prstGeom>
          <a:solidFill>
            <a:srgbClr val="8899AA"/>
          </a:solidFill>
          <a:ln w="12700">
            <a:solidFill>
              <a:srgbClr val="8899A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589020" y="462000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</a:rPr>
              <a:t>Just Eat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213098" y="305409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63974" y="294894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</a:rPr>
              <a:t>Alfonsino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9379458" y="4921758"/>
            <a:ext cx="118872" cy="118872"/>
          </a:xfrm>
          <a:prstGeom prst="ellipse">
            <a:avLst/>
          </a:prstGeom>
          <a:solidFill>
            <a:srgbClr val="8CB3CC"/>
          </a:solidFill>
          <a:ln w="12700">
            <a:solidFill>
              <a:srgbClr val="8CB3C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530334" y="481660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Bringg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57200" y="6126480"/>
            <a:ext cx="11247120" cy="47548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6254496"/>
            <a:ext cx="109728" cy="109728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04672" y="621792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4B8A6"/>
                </a:solidFill>
              </a:rPr>
              <a:t>Dloop — SaaS locale PMI (posizione unica)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108960" y="6254496"/>
            <a:ext cx="109728" cy="109728"/>
          </a:xfrm>
          <a:prstGeom prst="ellipse">
            <a:avLst/>
          </a:prstGeom>
          <a:solidFill>
            <a:srgbClr val="8CB3CC"/>
          </a:solidFill>
          <a:ln w="12700">
            <a:solidFill>
              <a:srgbClr val="8CB3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73552" y="621792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B3CC"/>
                </a:solidFill>
              </a:rPr>
              <a:t>SaaS B2B delivery (Onfleet, Tookan, LogiNext, Bringg)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577840" y="6254496"/>
            <a:ext cx="109728" cy="109728"/>
          </a:xfrm>
          <a:prstGeom prst="ellipse">
            <a:avLst/>
          </a:prstGeom>
          <a:solidFill>
            <a:srgbClr val="8899AA"/>
          </a:solidFill>
          <a:ln w="12700">
            <a:solidFill>
              <a:srgbClr val="8899A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42432" y="621792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99AA"/>
                </a:solidFill>
              </a:rPr>
              <a:t>Marketplace globali (Glovo, Deliveroo, Uber Eats, Just Eat)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8046720" y="625449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211312" y="621792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59E0B"/>
                </a:solidFill>
              </a:rPr>
              <a:t>Marketplace locale (Alfonsino)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89920" y="649224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455"/>
                </a:solidFill>
              </a:rPr>
              <a:t>06 / 12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2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14B8A6"/>
                </a:solidFill>
              </a:rPr>
              <a:t>BUSINESS MODEL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Canone SaaS + fee per ordine.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Ricavi multipli, costi fissi.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4B8A6"/>
                </a:solidFill>
              </a:rPr>
              <a:t>SMB — Merchant singoli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5394960" cy="548640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9456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Starter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423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B3CC"/>
                </a:solidFill>
              </a:rPr>
              <a:t>50 ord. inclusi · €0,80/extra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114800" y="21488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€39/mese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761488"/>
            <a:ext cx="5394960" cy="548640"/>
          </a:xfrm>
          <a:prstGeom prst="rect">
            <a:avLst/>
          </a:prstGeom>
          <a:solidFill>
            <a:srgbClr val="0D3D3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807208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Pro  ★ Più popolare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303580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B3CC"/>
                </a:solidFill>
              </a:rPr>
              <a:t>100 ord. inclusi · €0,80/extra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114800" y="276148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€79/mese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374136"/>
            <a:ext cx="5394960" cy="548640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419856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Enterprise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" y="364845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B3CC"/>
                </a:solidFill>
              </a:rPr>
              <a:t>250 ord. inclusi · €0,50/extra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114800" y="337413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€149/mese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402336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4B8A6"/>
                </a:solidFill>
              </a:rPr>
              <a:t>B2B Operator — Flotte delivery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4343400"/>
            <a:ext cx="5394960" cy="438912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4370832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Starter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0080" y="4572000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B3CC"/>
                </a:solidFill>
              </a:rPr>
              <a:t>500 ord. inclusi · €0,90/extra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114800" y="434340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€99/mese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4837176"/>
            <a:ext cx="5394960" cy="438912"/>
          </a:xfrm>
          <a:prstGeom prst="rect">
            <a:avLst/>
          </a:prstGeom>
          <a:solidFill>
            <a:srgbClr val="0D3D3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4864608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Business ★ Target ADV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0080" y="5065776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B3CC"/>
                </a:solidFill>
              </a:rPr>
              <a:t>1.500 ord. inclusi · €0,60/extra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114800" y="4837176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€199/mese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5330952"/>
            <a:ext cx="5394960" cy="438912"/>
          </a:xfrm>
          <a:prstGeom prst="rect">
            <a:avLst/>
          </a:prstGeom>
          <a:solidFill>
            <a:srgbClr val="0A3020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5358384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DE80"/>
                </a:solidFill>
              </a:rPr>
              <a:t>Business Plus ★ NUOVO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0080" y="5559552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B3CC"/>
                </a:solidFill>
              </a:rPr>
              <a:t>3.000 ord. inclusi · €0,45/extra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114800" y="5330952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ADE80"/>
                </a:solidFill>
              </a:rPr>
              <a:t>€299/mese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5824728"/>
            <a:ext cx="5394960" cy="438912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585216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40080" y="6053328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B3CC"/>
                </a:solidFill>
              </a:rPr>
              <a:t>5.000 ord. inclusi · €0,30/extra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114800" y="582472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€499/mese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400800" y="1828800"/>
            <a:ext cx="5257800" cy="3200400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583680" y="1920240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4B8A6"/>
                </a:solidFill>
              </a:rPr>
              <a:t>UNIT ECONOMICS PER ORDINE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583680" y="230428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B3CC"/>
                </a:solidFill>
              </a:rPr>
              <a:t>Revenue blended/ordine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509760" y="230428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€ 2,07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583680" y="2734056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B3CC"/>
                </a:solidFill>
              </a:rPr>
              <a:t>Costo variabile/ordine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509760" y="2734056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€0,55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583680" y="3163824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B3CC"/>
                </a:solidFill>
              </a:rPr>
              <a:t>Margine/ordine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9509760" y="3163824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€ 1,52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583680" y="3575304"/>
            <a:ext cx="4846320" cy="0"/>
          </a:xfrm>
          <a:prstGeom prst="line">
            <a:avLst/>
          </a:prstGeom>
          <a:noFill/>
          <a:ln w="12700">
            <a:solidFill>
              <a:srgbClr val="0B7A75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6583680" y="359359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B3CC"/>
                </a:solidFill>
              </a:rPr>
              <a:t>Gross Margin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9509760" y="3593592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73%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6583680" y="40233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B3CC"/>
                </a:solidFill>
              </a:rPr>
              <a:t>Revenue media/dealer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9509760" y="40233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€ 310/mese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6583680" y="445312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B3CC"/>
                </a:solidFill>
              </a:rPr>
              <a:t>Break-even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9509760" y="445312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M11 @ 61 dealer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6400800" y="5166360"/>
            <a:ext cx="5257800" cy="777240"/>
          </a:xfrm>
          <a:prstGeom prst="rect">
            <a:avLst/>
          </a:prstGeom>
          <a:solidFill>
            <a:srgbClr val="0A2A2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583680" y="5230368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EC8A0"/>
                </a:solidFill>
              </a:rPr>
              <a:t>💰  Saving dealer vs Alfonsino: +€17.790/anno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EC8A0"/>
                </a:solidFill>
              </a:rPr>
              <a:t>🚀  WhatsApp Bot add-on: +€39–78/mese/dealer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10789920" y="63093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455"/>
                </a:solidFill>
              </a:rPr>
              <a:t>07 / 12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14B8A6"/>
                </a:solidFill>
              </a:rPr>
              <a:t>PROIEZIONI FINANZIARIE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Break-even M11 @ 61 dealer.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LTV:CAC 16-18x.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2697480" cy="173736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92024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M11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Break-even operativo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2944368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B3CC"/>
                </a:solidFill>
              </a:rPr>
              <a:t>@ 61 dealer attivi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383280" y="1828800"/>
            <a:ext cx="2697480" cy="173736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83280" y="192024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0B9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73%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383280" y="26517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Gross Margin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383280" y="2944368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B3CC"/>
                </a:solidFill>
              </a:rPr>
              <a:t>Benchmark SaaS: &gt;70%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6309360" y="1828800"/>
            <a:ext cx="2697480" cy="173736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09360" y="192024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16-18x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6309360" y="26517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LTV:CAC Ratio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309360" y="2944368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B3CC"/>
                </a:solidFill>
              </a:rPr>
              <a:t>Benchmark VC: &gt;3x ✓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9235440" y="1828800"/>
            <a:ext cx="2697480" cy="173736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35440" y="192024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mesi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9235440" y="26517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CAC Payback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9235440" y="2944368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B3CC"/>
                </a:solidFill>
              </a:rPr>
              <a:t>Benchmark: &lt;18 mesi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57200" y="379476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4B8A6"/>
                </a:solidFill>
              </a:rPr>
              <a:t>Crescita MRR — Scenario Guerriglia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4114800"/>
            <a:ext cx="2468880" cy="77724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41605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CB3CC"/>
                </a:solidFill>
              </a:rPr>
              <a:t>M3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280160" y="41605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C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€ 744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7200" y="448056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8A9A"/>
                </a:solidFill>
              </a:rPr>
              <a:t>seed ricevuto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3200400" y="4114800"/>
            <a:ext cx="2468880" cy="77724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0" y="41605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CB3CC"/>
                </a:solidFill>
              </a:rPr>
              <a:t>M6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023360" y="41605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C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€ 3.021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200400" y="448056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8A9A"/>
                </a:solidFill>
              </a:rPr>
              <a:t>scala outreach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943600" y="4114800"/>
            <a:ext cx="2468880" cy="777240"/>
          </a:xfrm>
          <a:prstGeom prst="rect">
            <a:avLst/>
          </a:prstGeom>
          <a:solidFill>
            <a:srgbClr val="0A2A20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41605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CB3CC"/>
                </a:solidFill>
              </a:rPr>
              <a:t>M11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766560" y="41605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€ 13.000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943600" y="448056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8A9A"/>
                </a:solidFill>
              </a:rPr>
              <a:t>break-even ✓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8686800" y="4114800"/>
            <a:ext cx="2468880" cy="77724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686800" y="41605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CB3CC"/>
                </a:solidFill>
              </a:rPr>
              <a:t>M18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9509760" y="41605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€ 25.000+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8686800" y="448056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8A9A"/>
                </a:solidFill>
              </a:rPr>
              <a:t>regime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217920" y="379476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4B8A6"/>
                </a:solidFill>
              </a:rPr>
              <a:t>P&amp;L Anno 1 — Guerriglia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217920" y="4114800"/>
            <a:ext cx="5394960" cy="438912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0" y="41605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Burn totale Anno 1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326880" y="41605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€ 74.694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217920" y="4617720"/>
            <a:ext cx="5394960" cy="438912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0" y="46634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OpEx mensile (3 FTE)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9326880" y="46634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C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€9.400–€13.800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217920" y="5120640"/>
            <a:ext cx="5394960" cy="438912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0800" y="51663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CAC Guerriglia M1-M4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9326880" y="51663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€ 42/dealer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217920" y="5623560"/>
            <a:ext cx="5394960" cy="438912"/>
          </a:xfrm>
          <a:prstGeom prst="rect">
            <a:avLst/>
          </a:prstGeom>
          <a:solidFill>
            <a:srgbClr val="0A2A2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0800" y="5669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Saving vs Alfonsino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9326880" y="56692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+€17.790/anno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10789920" y="63093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455"/>
                </a:solidFill>
              </a:rPr>
              <a:t>08 / 12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F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14B8A6"/>
                </a:solidFill>
              </a:rPr>
              <a:t>TRAZIONE E VALIDAZIONE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MVP pronto. Primi merchant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già identificati.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874520"/>
            <a:ext cx="5486400" cy="96012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2167128"/>
            <a:ext cx="164592" cy="164592"/>
          </a:xfrm>
          <a:prstGeom prst="ellipse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92938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App Rider Flutter — prototipo funzionante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68680" y="2221992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8CB3CC"/>
                </a:solidFill>
              </a:rPr>
              <a:t>Sviluppato da Saba (CTO, P.IVA). Ordini, navigazione, prova di consegna. Pronto deploy iOS/Android.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2926080"/>
            <a:ext cx="5486400" cy="96012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3218688"/>
            <a:ext cx="164592" cy="164592"/>
          </a:xfrm>
          <a:prstGeom prst="ellipse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98094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WhatsApp Bot dual-AI (Operai + Haiku)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68680" y="3273552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8CB3CC"/>
                </a:solidFill>
              </a:rPr>
              <a:t>Strategia parallela con fallback integrato. Costo ~€78/anno, 95% accuratezza. File deployment pronti.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3977640"/>
            <a:ext cx="5486400" cy="96012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4360" y="4270248"/>
            <a:ext cx="164592" cy="164592"/>
          </a:xfrm>
          <a:prstGeom prst="ellipse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403250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Pipeline warm: 6+ merchant certi a M1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8680" y="4325112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8CB3CC"/>
                </a:solidFill>
              </a:rPr>
              <a:t>Mario Cucciolito (Pet Shop) · Gruppo Amodio (Supermercati Pam) · Farmacia Tanzillo · NaturaSì Vomero. Rete personale Pomigliano/Napoli. Zero paid ads M1-M4.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5029200"/>
            <a:ext cx="5486400" cy="96012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4360" y="5321808"/>
            <a:ext cx="164592" cy="164592"/>
          </a:xfrm>
          <a:prstGeom prst="ellipse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" y="508406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ADV Advertising Company — target B2B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68680" y="5376672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8CB3CC"/>
                </a:solidFill>
              </a:rPr>
              <a:t>Operatore logistico Napoli identificato come primo cliente Business tier (500-1.000 ordini/mese).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217920" y="1874520"/>
            <a:ext cx="5486400" cy="96012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55080" y="2167128"/>
            <a:ext cx="164592" cy="164592"/>
          </a:xfrm>
          <a:prstGeom prst="ellipse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29400" y="192938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Stack tecnico production-ready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629400" y="2221992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8CB3CC"/>
                </a:solidFill>
              </a:rPr>
              <a:t>Flutter + Supabase/PostGIS + Firebase + Twilio WhatsApp Business. Architettura verificata e deployable.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17920" y="2926080"/>
            <a:ext cx="5486400" cy="96012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55080" y="3218688"/>
            <a:ext cx="164592" cy="164592"/>
          </a:xfrm>
          <a:prstGeom prst="ellipse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29400" y="298094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Struttura legale verificata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629400" y="3273552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8CB3CC"/>
                </a:solidFill>
              </a:rPr>
              <a:t>CAV S.R.L. startup innovativa D.L. 3/2015. P.IVA 09532291219. Modello BlaBlaCar-style validato.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217920" y="3977640"/>
            <a:ext cx="5486400" cy="96012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355080" y="4270248"/>
            <a:ext cx="164592" cy="1645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629400" y="403250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Verifica Twilio in corso (Case #1380112390587406)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629400" y="4325112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8CB3CC"/>
                </a:solidFill>
              </a:rPr>
              <a:t>Documentazione inviata. Fallback alternativo pronto. WhatsApp Business API operativa entro 15gg.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217920" y="5029200"/>
            <a:ext cx="5486400" cy="96012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55080" y="5321808"/>
            <a:ext cx="164592" cy="164592"/>
          </a:xfrm>
          <a:prstGeom prst="ellipse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629400" y="508406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GitHub pubblico con pitch deck live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629400" y="5376672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8CB3CC"/>
                </a:solidFill>
              </a:rPr>
              <a:t>github.com/creamoj-ai/dloop-pitch-deck — due diligence tecnica aperta. GitHub Pages attivo.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789920" y="63093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455"/>
                </a:solidFill>
              </a:rPr>
              <a:t>09 / 12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14B8A6"/>
                </a:solidFill>
              </a:rPr>
              <a:t>IL TEAM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Founder-led, asset-light,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esecuzione guerriglia.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920240"/>
            <a:ext cx="3520440" cy="365760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2103120"/>
            <a:ext cx="685800" cy="685800"/>
          </a:xfrm>
          <a:prstGeom prst="roundRect">
            <a:avLst>
              <a:gd name="adj" fmla="val 10667"/>
            </a:avLst>
          </a:prstGeom>
          <a:solidFill>
            <a:srgbClr val="0B7A75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2103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92608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Crescenzo Amodio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3246120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4B8A6"/>
                </a:solidFill>
              </a:rPr>
              <a:t>Founder &amp; CEO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40080" y="3566160"/>
            <a:ext cx="3154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8CB3CC"/>
                </a:solidFill>
              </a:rPr>
              <a:t>Imprenditore seriale, Pomigliano d'Arco (NA). Gestisce CAV S.R.L. e B&amp;B Dloop. Fa sales direttamente M1-M4 (guerriglia). Coordina pitch MoodCapital.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297680" y="1920240"/>
            <a:ext cx="3520440" cy="365760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26280" y="2103120"/>
            <a:ext cx="685800" cy="685800"/>
          </a:xfrm>
          <a:prstGeom prst="roundRect">
            <a:avLst>
              <a:gd name="adj" fmla="val 10667"/>
            </a:avLst>
          </a:prstGeom>
          <a:solidFill>
            <a:srgbClr val="0B7A75"/>
          </a:solidFill>
          <a:ln/>
        </p:spPr>
      </p:sp>
      <p:sp>
        <p:nvSpPr>
          <p:cNvPr id="12" name="Text 10"/>
          <p:cNvSpPr/>
          <p:nvPr/>
        </p:nvSpPr>
        <p:spPr>
          <a:xfrm>
            <a:off x="4526280" y="2103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SB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480560" y="292608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Saba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480560" y="3246120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4B8A6"/>
                </a:solidFill>
              </a:rPr>
              <a:t>CTO / Lead Dev — P.IVA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3566160"/>
            <a:ext cx="3154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8CB3CC"/>
                </a:solidFill>
              </a:rPr>
              <a:t>Imprenditore seriale e reduce da exit di successo nell'ambito digital. CTO e Lead Dev Dloop: ha progettato e sviluppato l'intera architettura Flutter + Supabase/PostGIS. Collabora come autonomo con comprovata expertise in prodotti SaaS scalabili.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138160" y="1920240"/>
            <a:ext cx="3520440" cy="3657600"/>
          </a:xfrm>
          <a:prstGeom prst="rect">
            <a:avLst/>
          </a:prstGeom>
          <a:solidFill>
            <a:srgbClr val="0F2535"/>
          </a:solidFill>
          <a:ln w="12700">
            <a:solidFill>
              <a:srgbClr val="33445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66760" y="2103120"/>
            <a:ext cx="685800" cy="685800"/>
          </a:xfrm>
          <a:prstGeom prst="roundRect">
            <a:avLst>
              <a:gd name="adj" fmla="val 10667"/>
            </a:avLst>
          </a:prstGeom>
          <a:solidFill>
            <a:srgbClr val="2D3748"/>
          </a:solidFill>
          <a:ln/>
        </p:spPr>
      </p:sp>
      <p:sp>
        <p:nvSpPr>
          <p:cNvPr id="18" name="Text 16"/>
          <p:cNvSpPr/>
          <p:nvPr/>
        </p:nvSpPr>
        <p:spPr>
          <a:xfrm>
            <a:off x="8366760" y="2103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+4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321040" y="292608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Hiring Plan 2026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321040" y="3246120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4B8A6"/>
                </a:solidFill>
              </a:rPr>
              <a:t>Con il seed round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321040" y="3566160"/>
            <a:ext cx="3154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8CB3CC"/>
                </a:solidFill>
              </a:rPr>
              <a:t>Customer Success (M4), Marketing Exec (M4), Sales BDR (M5 — 3 mesi prima del Conservative), Dev Junior P.IVA (M7), Back Office (M6).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5806440"/>
            <a:ext cx="11247120" cy="548640"/>
          </a:xfrm>
          <a:prstGeom prst="rect">
            <a:avLst/>
          </a:prstGeom>
          <a:solidFill>
            <a:srgbClr val="0A2A2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EC8A0"/>
                </a:solidFill>
              </a:rPr>
              <a:t>⚡  Vantaggio Guerriglia: CEO fa outreach M1-M4 (CAC €42/dealer). Sales BDR da M5 — 3 mesi prima del Conservative — anticipa il picco acquisizione.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0789920" y="63093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455"/>
                </a:solidFill>
              </a:rPr>
              <a:t>10 / 12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2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14B8A6"/>
                </a:solidFill>
              </a:rPr>
              <a:t>FUNDRAISING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€100K seed  |  Range €90K–€150K  |  Runway 16 mesi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920240"/>
            <a:ext cx="4114800" cy="4206240"/>
          </a:xfrm>
          <a:prstGeom prst="rect">
            <a:avLst/>
          </a:prstGeom>
          <a:solidFill>
            <a:srgbClr val="0A2A28"/>
          </a:solidFill>
          <a:ln w="12700">
            <a:solidFill>
              <a:srgbClr val="0B7A75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21031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14B8A6"/>
                </a:solidFill>
              </a:rPr>
              <a:t>ASK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2423160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€100.000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457200" y="32004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(range €90K – €150K)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822960" y="3566160"/>
            <a:ext cx="3383280" cy="0"/>
          </a:xfrm>
          <a:prstGeom prst="line">
            <a:avLst/>
          </a:prstGeom>
          <a:noFill/>
          <a:ln w="12700">
            <a:solidFill>
              <a:srgbClr val="0B7A75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640080" y="37033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Struttura: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011680" y="37033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Pure equity / SAFE note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414223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MoodCapital: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011680" y="4142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Contatto attivo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458114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Angel Inv.: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011680" y="4581144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Investor network Sud Italia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0080" y="5020056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M3: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011680" y="5020056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Primo batch 5 merchant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0080" y="54589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M11: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011680" y="54589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Break-even @ 61 dealer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937760" y="192024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4B8A6"/>
                </a:solidFill>
              </a:rPr>
              <a:t>USO DEI FONDI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937760" y="237744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B3CC"/>
                </a:solidFill>
              </a:rPr>
              <a:t>Sviluppo prodotto (Saba)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937760" y="2651760"/>
            <a:ext cx="6217920" cy="20116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937760" y="2651760"/>
            <a:ext cx="1554480" cy="201168"/>
          </a:xfrm>
          <a:prstGeom prst="rect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247120" y="265176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4B8A6"/>
                </a:solidFill>
              </a:rPr>
              <a:t>25%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937760" y="306324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B3CC"/>
                </a:solidFill>
              </a:rPr>
              <a:t>Sales &amp; Marketing M1-M8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937760" y="3337560"/>
            <a:ext cx="6217920" cy="20116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937760" y="3337560"/>
            <a:ext cx="2176272" cy="201168"/>
          </a:xfrm>
          <a:prstGeom prst="rect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1247120" y="333756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4B8A6"/>
                </a:solidFill>
              </a:rPr>
              <a:t>35%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937760" y="374904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B3CC"/>
                </a:solidFill>
              </a:rPr>
              <a:t>CEO + Operations M1-M6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937760" y="4023360"/>
            <a:ext cx="6217920" cy="20116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937760" y="4023360"/>
            <a:ext cx="1243584" cy="201168"/>
          </a:xfrm>
          <a:prstGeom prst="rect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247120" y="402336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4B8A6"/>
                </a:solidFill>
              </a:rPr>
              <a:t>20%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937760" y="443484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B3CC"/>
                </a:solidFill>
              </a:rPr>
              <a:t>Infrastruttura cloud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937760" y="4709160"/>
            <a:ext cx="6217920" cy="20116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937760" y="4709160"/>
            <a:ext cx="746150" cy="201168"/>
          </a:xfrm>
          <a:prstGeom prst="rect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247120" y="470916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4B8A6"/>
                </a:solidFill>
              </a:rPr>
              <a:t>12%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937760" y="512064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B3CC"/>
                </a:solidFill>
              </a:rPr>
              <a:t>Legale, GDPR, Iubenda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937760" y="5394960"/>
            <a:ext cx="6217920" cy="20116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937760" y="5394960"/>
            <a:ext cx="497434" cy="201168"/>
          </a:xfrm>
          <a:prstGeom prst="rect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247120" y="539496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4B8A6"/>
                </a:solidFill>
              </a:rPr>
              <a:t>8%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937760" y="5623560"/>
            <a:ext cx="6675120" cy="731520"/>
          </a:xfrm>
          <a:prstGeom prst="rect">
            <a:avLst/>
          </a:prstGeom>
          <a:solidFill>
            <a:srgbClr val="1A2D20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120640" y="5669280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7EC8A0"/>
                </a:solidFill>
              </a:rPr>
              <a:t>⚡  Anno 1 Burn: €74.694 (–77% vs Conservative da €331K)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7EC8A0"/>
                </a:solidFill>
              </a:rPr>
              <a:t>Modello Guerriglia = breakeven con il seed senza secondo round.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10789920" y="63093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455"/>
                </a:solidFill>
              </a:rPr>
              <a:t>11 / 12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F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14B8A6"/>
                </a:solidFill>
              </a:rPr>
              <a:t>IL PROSSIMO PASSO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Dloop è </a:t>
            </a:r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pronto</a:t>
            </a:r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3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 mercato è </a:t>
            </a:r>
            <a:endParaRPr lang="en-US" sz="3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aperto</a:t>
            </a:r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3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Manca solo il </a:t>
            </a:r>
            <a:endParaRPr lang="en-US" sz="3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10B9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trigger.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356616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8CB3CC"/>
                </a:solidFill>
              </a:rPr>
              <a:t>Cerchiamo €50K–€100K per portare Dloop ai primi 61 merchant,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8CB3CC"/>
                </a:solidFill>
              </a:rPr>
              <a:t>raggiungere il break-even a M11 e costruire il leader verticale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8CB3CC"/>
                </a:solidFill>
              </a:rPr>
              <a:t>del delivery locale italiano.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452628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334455"/>
                </a:solidFill>
              </a:rPr>
              <a:t>Founder &amp; CEO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472744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Crescenzo Amodio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0" y="452628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334455"/>
                </a:solidFill>
              </a:rPr>
              <a:t>Email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3657600" y="472744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info@dloop.it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0" y="452628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334455"/>
                </a:solidFill>
              </a:rPr>
              <a:t>Sito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858000" y="472744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www.dloop.it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53492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334455"/>
                </a:solidFill>
              </a:rPr>
              <a:t>Pitch live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57200" y="555040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creamoj-ai.github.io/dloop-pitch-deck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297680" y="53492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334455"/>
                </a:solidFill>
              </a:rPr>
              <a:t>P.IVA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297680" y="555040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IT 09532291219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138160" y="53492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334455"/>
                </a:solidFill>
              </a:rPr>
              <a:t>Telefono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138160" y="555040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+39 373 790 2538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6446520"/>
            <a:ext cx="11247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A3A4A"/>
                </a:solidFill>
              </a:rPr>
              <a:t>RISERVATO · CAV S.R.L. · Startup Innovativa ex D.L. 3/2015 · Napoli · 2026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10789920" y="63093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455"/>
                </a:solidFill>
              </a:rPr>
              <a:t>12 / 12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Dloop — Investor Pitch Deck 2026</dc:title>
  <dc:subject>Seed Round Pitch Deck</dc:subject>
  <dc:creator>Crescenzo Amodio — CAV S.R.L.</dc:creator>
  <cp:lastModifiedBy>Crescenzo Amodio — CAV S.R.L.</cp:lastModifiedBy>
  <cp:revision>1</cp:revision>
  <dcterms:created xsi:type="dcterms:W3CDTF">2026-03-19T04:25:42Z</dcterms:created>
  <dcterms:modified xsi:type="dcterms:W3CDTF">2026-03-19T04:25:42Z</dcterms:modified>
</cp:coreProperties>
</file>