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B7A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</a:rPr>
              <a:t>SEED PITCH · 2026 · RISERVATO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sistema operativo
</a:t>
            </a:r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delivery locale
</a:t>
            </a:r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italiano.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CB3CC"/>
                </a:solidFill>
              </a:rPr>
              <a:t>Dloop è la piattaforma SaaS B2B per operatori di delivery locale in Italia.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CB3CC"/>
                </a:solidFill>
              </a:rPr>
              <a:t>WhatsApp nativo · Modello P.IVA · Pricing accessibile alle PMI.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0"/>
            <a:ext cx="2560320" cy="777240"/>
          </a:xfrm>
          <a:prstGeom prst="rect">
            <a:avLst/>
          </a:prstGeom>
          <a:solidFill>
            <a:srgbClr val="0D2D4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74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Azienda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CAV S.R.L. — Startup Innovativa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5029200"/>
            <a:ext cx="2560320" cy="777240"/>
          </a:xfrm>
          <a:prstGeom prst="rect">
            <a:avLst/>
          </a:prstGeom>
          <a:solidFill>
            <a:srgbClr val="0D2D4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5074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Mercato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Italia · Campania first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5029200"/>
            <a:ext cx="2560320" cy="777240"/>
          </a:xfrm>
          <a:prstGeom prst="rect">
            <a:avLst/>
          </a:prstGeom>
          <a:solidFill>
            <a:srgbClr val="0D2D4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5074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Fase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Pre-revenue · MVP pronto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5029200"/>
            <a:ext cx="2560320" cy="777240"/>
          </a:xfrm>
          <a:prstGeom prst="rect">
            <a:avLst/>
          </a:prstGeom>
          <a:solidFill>
            <a:srgbClr val="0D2D4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5074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Ask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961120" y="5285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€ 90.000 – € 150.000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IL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inefficienze che frenano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delivery locale italiano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520440" cy="320040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strumenti dedicati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CB3CC"/>
                </a:solidFill>
              </a:rPr>
              <a:t>Merchant gestiscono ordini via WhatsApp personale, telefono e carta. Zero tracciabilità, zero analytics, errori continui.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520440" cy="320040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057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🏍️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 senza sistema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154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CB3CC"/>
                </a:solidFill>
              </a:rPr>
              <a:t>I rider P.IVA ricevono incarichi via messaggi informali. Nessuna app, nessuna prova di consegna, nessun percorso ottimizzato.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320040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057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210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globali inaccessibili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154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CB3CC"/>
                </a:solidFill>
              </a:rPr>
              <a:t>Onfleet, Tookan, LogiNext: $500+/mese in inglese, zero localizzazione IT, nessun supporto al modello P.IVA autonomo.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303520"/>
            <a:ext cx="11247120" cy="777240"/>
          </a:xfrm>
          <a:prstGeom prst="rect">
            <a:avLst/>
          </a:prstGeom>
          <a:solidFill>
            <a:srgbClr val="1A2D20"/>
          </a:solidFill>
          <a:ln w="12700">
            <a:solidFill>
              <a:srgbClr val="2D7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3766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EC8A0"/>
                </a:solidFill>
              </a:rPr>
              <a:t>⚡  Gap di mercato: 45.000+ attività delivery attive in Campania. Solo il 3-5% usa software dedicato. Nessun player offre una soluzione verticale italiana con prezzi PMI.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LA SOLUZIONE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Dloop — tutto il delivery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un'unica piattaforma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4767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D8E8"/>
                </a:solidFill>
              </a:rPr>
              <a:t>Dashboard web per merchant: ordini, assegnazione rider, tracking live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8775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14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D8E8"/>
                </a:solidFill>
              </a:rPr>
              <a:t>App Flutter per rider P.IVA: ordini, navigazione, prova di consegna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2783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54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D8E8"/>
                </a:solidFill>
              </a:rPr>
              <a:t>WhatsApp Business via Twilio: notifiche ordine real-time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6791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947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D8E8"/>
                </a:solidFill>
              </a:rPr>
              <a:t>PostGIS + Supabase: routing geografico e zone di consegna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50799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DD8E8"/>
                </a:solidFill>
              </a:rPr>
              <a:t>Bot WhatsApp AI: raccolta ordini senza app dedicata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5760720" cy="868680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13892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EC8A0"/>
                </a:solidFill>
              </a:rPr>
              <a:t>⚖️  Vantaggio legale: Dloop è puro SaaS — i rider fatturano P.IVA → Merchant.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EC8A0"/>
                </a:solidFill>
              </a:rPr>
              <a:t>Nessun rischio lavoro subordinato, zero liability Dloop (modello BlaBlaCar).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64592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7830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4B8A6"/>
                </a:solidFill>
              </a:rPr>
              <a:t>DLOOP · NOTIFICA ORDINE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2103120"/>
            <a:ext cx="4480560" cy="1508760"/>
          </a:xfrm>
          <a:prstGeom prst="rect">
            <a:avLst/>
          </a:prstGeom>
          <a:solidFill>
            <a:srgbClr val="0D2D3A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2103120"/>
            <a:ext cx="45720" cy="15087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14884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8F0"/>
                </a:solidFill>
              </a:rPr>
              <a:t>🛍️  Nuovo ordine #1042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8F0"/>
                </a:solidFill>
              </a:rPr>
              <a:t>Pizza Roma — €34,50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8F0"/>
                </a:solidFill>
              </a:rPr>
              <a:t>Via Garibaldi 12, Napoli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8F0"/>
                </a:solidFill>
              </a:rPr>
              <a:t>Rider: Marco R. ⭐4.8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8F0"/>
                </a:solidFill>
              </a:rPr>
              <a:t>ETA consegna: 22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3749040"/>
            <a:ext cx="448056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3794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CB3CC"/>
                </a:solidFill>
              </a:rPr>
              <a:t>✅  Confermato</a:t>
            </a:r>
            <a:endParaRPr lang="en-US" sz="100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CB3CC"/>
                </a:solidFill>
              </a:rPr>
              <a:t>Rispondi STOP per disattivare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via Twilio · WhatsApp Business API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MERCATO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mercato frammentato,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senza ancora un leader verticale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520440" cy="2377440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€2,1B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B3CC"/>
                </a:solidFill>
              </a:rPr>
              <a:t>Mercato delivery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B3CC"/>
                </a:solidFill>
              </a:rPr>
              <a:t>locale Italia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971800" cy="91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SOM target: €12M/anno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20440" cy="2377440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45K+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297680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B3CC"/>
                </a:solidFill>
              </a:rPr>
              <a:t>Attività delivery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B3CC"/>
                </a:solidFill>
              </a:rPr>
              <a:t>Napoli + Caserta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474720"/>
            <a:ext cx="2971800" cy="91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Solo 3-5% usa software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2377440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€310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138160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B3CC"/>
                </a:solidFill>
              </a:rPr>
              <a:t>Revenue media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B3CC"/>
                </a:solidFill>
              </a:rPr>
              <a:t>per dealer/mese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0" y="3474720"/>
            <a:ext cx="2971800" cy="914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LTV: €7.440 (24 mesi)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5577840" cy="123444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63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Risparmio vs Alfonsino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95604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CB3CC"/>
                </a:solidFill>
              </a:rPr>
              <a:t>Un dealer Dloop risparmia +€17.790/anno rispetto ad Alfonsino (marketplace 25-30%). Dloop è puro SaaS — zero commissioni sugli ordini.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4572000"/>
            <a:ext cx="5349240" cy="123444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663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 Espansione geografica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956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CB3CC"/>
                </a:solidFill>
              </a:rPr>
              <a:t>Campania → Sud Italia M12 → Nazionale M18. Ogni provincia è un mercato autonomo replicabile.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ANALISI COMPETITIVA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Nessun competitor ha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posizionamento di Dloop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solidFill>
            <a:srgbClr val="0A2A4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Player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68880" y="1828800"/>
            <a:ext cx="1554480" cy="411480"/>
          </a:xfrm>
          <a:prstGeom prst="rect">
            <a:avLst/>
          </a:prstGeom>
          <a:solidFill>
            <a:srgbClr val="0A2A4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Pricing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1234440" cy="411480"/>
          </a:xfrm>
          <a:prstGeom prst="rect">
            <a:avLst/>
          </a:prstGeom>
          <a:solidFill>
            <a:srgbClr val="0A2A4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WhatsApp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nativo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57800" y="1828800"/>
            <a:ext cx="1234440" cy="411480"/>
          </a:xfrm>
          <a:prstGeom prst="rect">
            <a:avLst/>
          </a:prstGeom>
          <a:solidFill>
            <a:srgbClr val="0A2A4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Modello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P.IVA 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828800"/>
            <a:ext cx="1097280" cy="411480"/>
          </a:xfrm>
          <a:prstGeom prst="rect">
            <a:avLst/>
          </a:prstGeom>
          <a:solidFill>
            <a:srgbClr val="0A2A4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In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Italiano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828800"/>
            <a:ext cx="1097280" cy="411480"/>
          </a:xfrm>
          <a:prstGeom prst="rect">
            <a:avLst/>
          </a:prstGeom>
          <a:solidFill>
            <a:srgbClr val="0A2A4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PMI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ready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0" y="1828800"/>
            <a:ext cx="1097280" cy="411480"/>
          </a:xfrm>
          <a:prstGeom prst="rect">
            <a:avLst/>
          </a:prstGeom>
          <a:solidFill>
            <a:srgbClr val="0A2A4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SaaS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4B8A6"/>
                </a:solidFill>
              </a:rPr>
              <a:t>puro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12848"/>
            <a:ext cx="2011680" cy="402336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212848"/>
            <a:ext cx="54864" cy="4023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12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Dloop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2212848"/>
            <a:ext cx="1554480" cy="402336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2128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€39–€499/mese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2212848"/>
            <a:ext cx="1234440" cy="402336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2128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57800" y="2212848"/>
            <a:ext cx="1234440" cy="402336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2128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2212848"/>
            <a:ext cx="1097280" cy="402336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2128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2212848"/>
            <a:ext cx="1097280" cy="402336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2128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0" y="2212848"/>
            <a:ext cx="1097280" cy="402336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22128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2615184"/>
            <a:ext cx="11155680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61518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8A9A"/>
                </a:solidFill>
              </a:rPr>
              <a:t>— SaaS B2B —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871216"/>
            <a:ext cx="20116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8712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Onfleet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2871216"/>
            <a:ext cx="15544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28712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B3CC"/>
                </a:solidFill>
              </a:rPr>
              <a:t>$500+/mese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23360" y="2871216"/>
            <a:ext cx="123444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28712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57800" y="2871216"/>
            <a:ext cx="123444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28712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2871216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8712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589520" y="2871216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28712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686800" y="2871216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28712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3273552"/>
            <a:ext cx="20116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2735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Tookan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468880" y="3273552"/>
            <a:ext cx="15544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68880" y="32735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B3CC"/>
                </a:solidFill>
              </a:rPr>
              <a:t>$99–$299/mese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023360" y="3273552"/>
            <a:ext cx="123444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0" y="327355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257800" y="3273552"/>
            <a:ext cx="123444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800" y="327355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92240" y="3273552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32735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589520" y="3273552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32735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~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686800" y="3273552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0" y="32735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57200" y="3675888"/>
            <a:ext cx="20116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6758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LogiNext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468880" y="3675888"/>
            <a:ext cx="15544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0" y="36758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B3CC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023360" y="3675888"/>
            <a:ext cx="123444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23360" y="367588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257800" y="3675888"/>
            <a:ext cx="123444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367588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492240" y="3675888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92240" y="3675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589520" y="3675888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89520" y="3675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686800" y="3675888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86800" y="36758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57200" y="4078224"/>
            <a:ext cx="11155680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40782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8A9A"/>
                </a:solidFill>
              </a:rPr>
              <a:t>— Marketplace —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7200" y="4334256"/>
            <a:ext cx="20116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Glovo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468880" y="4334256"/>
            <a:ext cx="15544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68880" y="43342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B3CC"/>
                </a:solidFill>
              </a:rPr>
              <a:t>25-30% comm.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023360" y="4334256"/>
            <a:ext cx="123444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23360" y="433425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~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257800" y="4334256"/>
            <a:ext cx="123444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57800" y="433425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6492240" y="4334256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92240" y="4334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589520" y="4334256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89520" y="4334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~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686800" y="4334256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686800" y="4334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457200" y="4736592"/>
            <a:ext cx="20116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4736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Deliveroo / Just Eat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468880" y="4736592"/>
            <a:ext cx="15544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468880" y="47365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B3CC"/>
                </a:solidFill>
              </a:rPr>
              <a:t>25-30% comm.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023360" y="4736592"/>
            <a:ext cx="123444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023360" y="47365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5257800" y="4736592"/>
            <a:ext cx="123444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257800" y="47365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6492240" y="4736592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92240" y="47365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7589520" y="4736592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589520" y="47365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~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686800" y="4736592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686800" y="47365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57200" y="5138928"/>
            <a:ext cx="20116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57200" y="51389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Alfonsino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2468880" y="5138928"/>
            <a:ext cx="15544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468880" y="513892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B3CC"/>
                </a:solidFill>
              </a:rPr>
              <a:t>25-30% comm.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4023360" y="5138928"/>
            <a:ext cx="123444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23360" y="513892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~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5257800" y="5138928"/>
            <a:ext cx="123444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57800" y="513892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6492240" y="5138928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492240" y="51389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7589520" y="5138928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589520" y="51389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~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8686800" y="5138928"/>
            <a:ext cx="1097280" cy="402336"/>
          </a:xfrm>
          <a:prstGeom prst="rect">
            <a:avLst/>
          </a:prstGeom>
          <a:solidFill>
            <a:srgbClr val="0F1E3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686800" y="51389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457200" y="5541264"/>
            <a:ext cx="20116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57200" y="55412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Uber Eats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468880" y="5541264"/>
            <a:ext cx="15544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468880" y="55412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B3CC"/>
                </a:solidFill>
              </a:rPr>
              <a:t>25-30% comm.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4023360" y="5541264"/>
            <a:ext cx="123444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023360" y="55412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5257800" y="5541264"/>
            <a:ext cx="123444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257800" y="55412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6492240" y="5541264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92240" y="55412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7589520" y="5541264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589520" y="55412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686800" y="5541264"/>
            <a:ext cx="1097280" cy="402336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686800" y="55412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455"/>
                </a:solidFill>
              </a:rPr>
              <a:t>✗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457200" y="6080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✓ = sì  |  ✗ = no  |  ~ = parziale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POSIZIONAMENTO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Dloop occupa il quadrante unico non presidiato da nessun competitor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623560" cy="228600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417320"/>
            <a:ext cx="5623560" cy="2286000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703320"/>
            <a:ext cx="5623560" cy="2286000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3703320"/>
            <a:ext cx="5623560" cy="22860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34455"/>
                </a:solidFill>
              </a:rPr>
              <a:t>MARKETPLACE LOCALE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B7A75"/>
                </a:solidFill>
              </a:rPr>
              <a:t>SaaS LOCALE  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34455"/>
                </a:solidFill>
              </a:rPr>
              <a:t>MARKETPLACE GLOBALE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34455"/>
                </a:solidFill>
              </a:rPr>
              <a:t>SAAS GLOBALE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1247120" cy="0"/>
          </a:xfrm>
          <a:prstGeom prst="line">
            <a:avLst/>
          </a:prstGeom>
          <a:noFill/>
          <a:ln w="12700">
            <a:solidFill>
              <a:srgbClr val="3344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417320"/>
            <a:ext cx="0" cy="4572000"/>
          </a:xfrm>
          <a:prstGeom prst="line">
            <a:avLst/>
          </a:prstGeom>
          <a:noFill/>
          <a:ln w="12700">
            <a:solidFill>
              <a:srgbClr val="3344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4728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4A6A7A"/>
                </a:solidFill>
              </a:rPr>
              <a:t>← MARKETPLACE          MODELLO          SAAS PURO 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72200" y="18013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A7A"/>
                </a:solidFill>
              </a:rPr>
              <a:t>↑ LOCALE / PMI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72200" y="4050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A7A"/>
                </a:solidFill>
              </a:rPr>
              <a:t>↓ GLOBALE / ENTERPRISE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09937" y="2265883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38537" y="220187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🟢 DLOOP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62822" y="4725162"/>
            <a:ext cx="118872" cy="118872"/>
          </a:xfrm>
          <a:prstGeom prst="ellipse">
            <a:avLst/>
          </a:prstGeom>
          <a:solidFill>
            <a:srgbClr val="8CB3CC"/>
          </a:solidFill>
          <a:ln w="12700">
            <a:solidFill>
              <a:srgbClr val="8CB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13698" y="462000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Onfleet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7868" y="4233672"/>
            <a:ext cx="118872" cy="118872"/>
          </a:xfrm>
          <a:prstGeom prst="ellipse">
            <a:avLst/>
          </a:prstGeom>
          <a:solidFill>
            <a:srgbClr val="8CB3CC"/>
          </a:solidFill>
          <a:ln w="12700">
            <a:solidFill>
              <a:srgbClr val="8CB3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41285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Tookan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21140" y="5059375"/>
            <a:ext cx="118872" cy="118872"/>
          </a:xfrm>
          <a:prstGeom prst="ellipse">
            <a:avLst/>
          </a:prstGeom>
          <a:solidFill>
            <a:srgbClr val="8CB3CC"/>
          </a:solidFill>
          <a:ln w="12700">
            <a:solidFill>
              <a:srgbClr val="8CB3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495421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LogiNext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18181" y="4528566"/>
            <a:ext cx="118872" cy="118872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69057" y="442341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Glovo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24835" y="4823460"/>
            <a:ext cx="118872" cy="118872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5711" y="4718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Deliveroo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79826" y="5059375"/>
            <a:ext cx="118872" cy="118872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0702" y="495421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Uber Eats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38144" y="4725162"/>
            <a:ext cx="118872" cy="118872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9020" y="462000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Just Eat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13098" y="30540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63974" y="29489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Alfonsino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79458" y="4921758"/>
            <a:ext cx="118872" cy="118872"/>
          </a:xfrm>
          <a:prstGeom prst="ellipse">
            <a:avLst/>
          </a:prstGeom>
          <a:solidFill>
            <a:srgbClr val="8CB3CC"/>
          </a:solidFill>
          <a:ln w="12700">
            <a:solidFill>
              <a:srgbClr val="8CB3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30334" y="481660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Bringg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126480"/>
            <a:ext cx="11247120" cy="475488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62544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6217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Dloop — SaaS locale PMI (posizione unica)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08960" y="6254496"/>
            <a:ext cx="109728" cy="109728"/>
          </a:xfrm>
          <a:prstGeom prst="ellipse">
            <a:avLst/>
          </a:prstGeom>
          <a:solidFill>
            <a:srgbClr val="8CB3CC"/>
          </a:solidFill>
          <a:ln w="12700">
            <a:solidFill>
              <a:srgbClr val="8CB3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6217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SaaS B2B delivery (Onfleet, Tookan, LogiNext, Bringg)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77840" y="6254496"/>
            <a:ext cx="109728" cy="109728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6217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Marketplace globali (Glovo, Deliveroo, Uber Eats, Just Eat)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46720" y="62544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2" y="6217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Marketplace locale (Alfonsino)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89920" y="6492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Canone SaaS + fee per ordine.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Ricavi multipli, costi fissi.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SMB — Merchant singoli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394960" cy="54864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3CC"/>
                </a:solidFill>
              </a:rPr>
              <a:t>50 ord. inclusi · €0,80/extra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€39/mese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5394960" cy="548640"/>
          </a:xfrm>
          <a:prstGeom prst="rect">
            <a:avLst/>
          </a:prstGeom>
          <a:solidFill>
            <a:srgbClr val="0D3D3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07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  ★ Più popolare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35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3CC"/>
                </a:solidFill>
              </a:rPr>
              <a:t>100 ord. inclusi · €0,80/extra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0" y="27614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€79/mese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74136"/>
            <a:ext cx="5394960" cy="54864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19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48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3CC"/>
                </a:solidFill>
              </a:rPr>
              <a:t>250 ord. inclusi · €0,50/extra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33741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€149/mese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B2B Operator — Flotte delivery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5394960" cy="438912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70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500 ord. inclusi · €0,90/extra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0" y="43434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€99/mese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37176"/>
            <a:ext cx="5394960" cy="438912"/>
          </a:xfrm>
          <a:prstGeom prst="rect">
            <a:avLst/>
          </a:prstGeom>
          <a:solidFill>
            <a:srgbClr val="0D3D3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8646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★ Target ADV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0657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1.500 ord. inclusi · €0,60/extra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0" y="48371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€199/mese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330952"/>
            <a:ext cx="5394960" cy="438912"/>
          </a:xfrm>
          <a:prstGeom prst="rect">
            <a:avLst/>
          </a:prstGeom>
          <a:solidFill>
            <a:srgbClr val="0A30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3583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Business Plus ★ NUOVO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5595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3.000 ord. inclusi · €0,45/extra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0" y="53309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€299/mese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824728"/>
            <a:ext cx="5394960" cy="438912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521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0533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5.000 ord. inclusi · €0,30/extra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0" y="5824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€499/mese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1828800"/>
            <a:ext cx="5257800" cy="32004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83680" y="19202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</a:rPr>
              <a:t>UNIT ECONOMICS PER ORDINE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0" y="2304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Revenue blended/ordine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09760" y="2304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€ 2,07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2734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Costo variabile/ordine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509760" y="27340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€0,55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3163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Margine/ordine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509760" y="3163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€ 1,52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3575304"/>
            <a:ext cx="4846320" cy="0"/>
          </a:xfrm>
          <a:prstGeom prst="line">
            <a:avLst/>
          </a:prstGeom>
          <a:noFill/>
          <a:ln w="12700">
            <a:solidFill>
              <a:srgbClr val="0B7A75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583680" y="3593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Gross Margin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509760" y="3593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8368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Revenue media/dealer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50976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€ 310/mese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3680" y="4453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Break-even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509760" y="4453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 @ 61 dealer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00800" y="5166360"/>
            <a:ext cx="5257800" cy="777240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52303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EC8A0"/>
                </a:solidFill>
              </a:rPr>
              <a:t>💰  Saving dealer vs Alfonsino: +€17.790/anno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EC8A0"/>
                </a:solidFill>
              </a:rPr>
              <a:t>🚀  WhatsApp Bot add-on: +€39–78/mese/dealer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PROIEZIONI FINANZIARIE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M11 @ 61 dealer.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LTV:CAC 16-18x.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173736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Break-even operativo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@ 61 dealer attivi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97480" cy="173736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20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Gross Margin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Benchmark SaaS: &gt;70%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97480" cy="173736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16-18x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LTV:CAC Ratio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Benchmark VC: &gt;3x 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35440" y="1828800"/>
            <a:ext cx="2697480" cy="173736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920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mesi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35440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CAC Payback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35440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B3CC"/>
                </a:solidFill>
              </a:rPr>
              <a:t>Benchmark: &lt;18 mesi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B8A6"/>
                </a:solidFill>
              </a:rPr>
              <a:t>Crescita MRR — Scenario Guerriglia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2468880" cy="77724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B3CC"/>
                </a:solidFill>
              </a:rPr>
              <a:t>M3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€ 744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8A9A"/>
                </a:solidFill>
              </a:rPr>
              <a:t>seed ricevuto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4114800"/>
            <a:ext cx="2468880" cy="77724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B3CC"/>
                </a:solidFill>
              </a:rPr>
              <a:t>M6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€ 3.021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4480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8A9A"/>
                </a:solidFill>
              </a:rPr>
              <a:t>scala outreach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0" y="4114800"/>
            <a:ext cx="2468880" cy="777240"/>
          </a:xfrm>
          <a:prstGeom prst="rect">
            <a:avLst/>
          </a:prstGeom>
          <a:solidFill>
            <a:srgbClr val="0A2A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B3CC"/>
                </a:solidFill>
              </a:rPr>
              <a:t>M11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€ 13.000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480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8A9A"/>
                </a:solidFill>
              </a:rPr>
              <a:t>break-even 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686800" y="4114800"/>
            <a:ext cx="2468880" cy="77724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B3CC"/>
                </a:solidFill>
              </a:rPr>
              <a:t>M18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0976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€ 25.000+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4480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8A9A"/>
                </a:solidFill>
              </a:rPr>
              <a:t>regime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7920" y="37947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B8A6"/>
                </a:solidFill>
              </a:rPr>
              <a:t>P&amp;L Anno 1 — Guerriglia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4114800"/>
            <a:ext cx="5394960" cy="438912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Burn totale Anno 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2688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€ 74.694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4617720"/>
            <a:ext cx="5394960" cy="438912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OpEx mensile (3 FTE)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32688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€9.400–€13.800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5120640"/>
            <a:ext cx="5394960" cy="438912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CAC Guerriglia M1-M4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26880" y="5166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€ 42/dealer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5623560"/>
            <a:ext cx="5394960" cy="438912"/>
          </a:xfrm>
          <a:prstGeom prst="rect">
            <a:avLst/>
          </a:prstGeom>
          <a:solidFill>
            <a:srgbClr val="0A2A2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Saving vs Alfonsino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326880" y="5669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+€17.790/anno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TRAZIONE E VALIDAZIONE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pronto. Primi merchant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già identificati.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486400" cy="96012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67128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9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Rider Flutter — prototipo funzionante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219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CB3CC"/>
                </a:solidFill>
              </a:rPr>
              <a:t>Sviluppato da Saba (CTO, P.IVA). Ordini, navigazione, prova di consegna. Pronto deploy iOS/Android.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486400" cy="96012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218688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80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WhatsApp Bot dual-AI (Operai + Haiku)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27355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CB3CC"/>
                </a:solidFill>
              </a:rPr>
              <a:t>Strategia parallela con fallback integrato. Costo ~€78/anno, 95% accuratezza. File deployment pronti.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486400" cy="96012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4270248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32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 warm: 6+ merchant certi a M1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32511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CB3CC"/>
                </a:solidFill>
              </a:rPr>
              <a:t>Mario Cucciolito (Pet Shop) · Gruppo Amodio (Supermercati Pam) · Farmacia Tanzillo · NaturaSì Vomero. Rete personale Pomigliano/Napoli. Zero paid ads M1-M4.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5486400" cy="96012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5321808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840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 Advertising Company — target B2B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3766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CB3CC"/>
                </a:solidFill>
              </a:rPr>
              <a:t>Operatore logistico Napoli identificato come primo cliente Business tier (500-1.000 ordini/mese).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874520"/>
            <a:ext cx="5486400" cy="96012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167128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929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Stack tecnico production-ready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22219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CB3CC"/>
                </a:solidFill>
              </a:rPr>
              <a:t>Flutter + Supabase/PostGIS + Firebase + Twilio WhatsApp Business. Architettura verificata e deployable.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5486400" cy="96012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218688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980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Struttura legale verificata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327355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CB3CC"/>
                </a:solidFill>
              </a:rPr>
              <a:t>CAV S.R.L. startup innovativa D.L. 3/2015. P.IVA 09532291219. Modello BlaBlaCar-style validato.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977640"/>
            <a:ext cx="5486400" cy="96012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42702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032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Verifica Twilio in corso (Case #1380112390587406)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432511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CB3CC"/>
                </a:solidFill>
              </a:rPr>
              <a:t>Documentazione inviata. Fallback alternativo pronto. WhatsApp Business API operativa entro 15gg.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5029200"/>
            <a:ext cx="5486400" cy="96012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5321808"/>
            <a:ext cx="164592" cy="16459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50840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 pubblico con pitch deck live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53766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CB3CC"/>
                </a:solidFill>
              </a:rPr>
              <a:t>github.com/creamoj-ai/dloop-pitch-deck — due diligence tecnica aperta. GitHub Pages attivo.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IL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Founder-led, asset-light,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esecuzione guerriglia.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520440" cy="365760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03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Crescenzo Amodio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4B8A6"/>
                </a:solidFill>
              </a:rPr>
              <a:t>Founder &amp; CEO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CB3CC"/>
                </a:solidFill>
              </a:rPr>
              <a:t>Imprenditore seriale, Pomigliano d'Arco (NA). Gestisce CAV S.R.L. e B&amp;B Dloop. Fa sales direttamente M1-M4 (guerriglia). Coordina pitch MoodCapital.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520440" cy="3657600"/>
          </a:xfrm>
          <a:prstGeom prst="rect">
            <a:avLst/>
          </a:prstGeom>
          <a:solidFill>
            <a:srgbClr val="0F25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103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B7A7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Saba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32461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4B8A6"/>
                </a:solidFill>
              </a:rPr>
              <a:t>CTO / Lead Dev — P.IVA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35661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CB3CC"/>
                </a:solidFill>
              </a:rPr>
              <a:t>Imprenditore seriale e reduce da exit di successo nell'ambito digital. CTO e Lead Dev Dloop: ha progettato e sviluppato l'intera architettura Flutter + Supabase/PostGIS. Collabora come autonomo con comprovata expertise in prodotti SaaS scalabili.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520440" cy="3657600"/>
          </a:xfrm>
          <a:prstGeom prst="rect">
            <a:avLst/>
          </a:prstGeom>
          <a:solidFill>
            <a:srgbClr val="0F253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1031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2D3748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Hiring Plan 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2461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4B8A6"/>
                </a:solidFill>
              </a:rPr>
              <a:t>Con il seed round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35661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CB3CC"/>
                </a:solidFill>
              </a:rPr>
              <a:t>Customer Success (M4), Marketing Exec (M4), Sales BDR (M5 — 3 mesi prima del Conservative), Dev Junior P.IVA (M7), Back Office (M6).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EC8A0"/>
                </a:solidFill>
              </a:rPr>
              <a:t>⚡  Vantaggio Guerriglia: CEO fa outreach M1-M4 (CAC €42/dealer). Sales BDR da M5 — 3 mesi prima del Conservative — anticipa il picco acquisizione.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FUNDRAISING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€100K seed  |  Range €90K–€150K  |  Runway 16 mesi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114800" cy="4206240"/>
          </a:xfrm>
          <a:prstGeom prst="rect">
            <a:avLst/>
          </a:prstGeom>
          <a:solidFill>
            <a:srgbClr val="0A2A28"/>
          </a:solidFill>
          <a:ln w="12700">
            <a:solidFill>
              <a:srgbClr val="0B7A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€100.000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(range €90K – €150K)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3383280" cy="0"/>
          </a:xfrm>
          <a:prstGeom prst="line">
            <a:avLst/>
          </a:prstGeom>
          <a:noFill/>
          <a:ln w="12700">
            <a:solidFill>
              <a:srgbClr val="0B7A7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Struttura: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Pure equity / SAFE note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142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MoodCapital: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4142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Contatto attivo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581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Angel Inv.: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45811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Investor network Sud Italia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M3: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5020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Primo batch 5 merchant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458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CC"/>
                </a:solidFill>
              </a:rPr>
              <a:t>M11: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5458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Break-even @ 61 dealer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9202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</a:rPr>
              <a:t>USO DEI FONDI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Sviluppo prodotto (Saba)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651760"/>
            <a:ext cx="621792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651760"/>
            <a:ext cx="1554480" cy="2011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0" y="2651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25%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Sales &amp; Marketing M1-M8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337560"/>
            <a:ext cx="621792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337560"/>
            <a:ext cx="2176272" cy="2011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0" y="3337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35%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749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CEO + Operations M1-M6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4023360"/>
            <a:ext cx="621792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4023360"/>
            <a:ext cx="1243584" cy="2011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0" y="40233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20%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4434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Infrastruttura cloud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4709160"/>
            <a:ext cx="621792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4709160"/>
            <a:ext cx="746150" cy="2011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47120" y="4709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12%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5120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CC"/>
                </a:solidFill>
              </a:rPr>
              <a:t>Legale, GDPR, Iubenda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5394960"/>
            <a:ext cx="621792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5394960"/>
            <a:ext cx="497434" cy="2011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47120" y="5394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8%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37760" y="5623560"/>
            <a:ext cx="6675120" cy="731520"/>
          </a:xfrm>
          <a:prstGeom prst="rect">
            <a:avLst/>
          </a:prstGeom>
          <a:solidFill>
            <a:srgbClr val="1A2D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56692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EC8A0"/>
                </a:solidFill>
              </a:rPr>
              <a:t>⚡  Anno 1 Burn: €74.694 (–77% vs Conservative da €331K)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EC8A0"/>
                </a:solidFill>
              </a:rPr>
              <a:t>Modello Guerriglia = breakeven con il seed senza secondo round.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</a:rPr>
              <a:t>IL PROSSIMO PASSO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Dloop è 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mercato è 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aperto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Manca solo il 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CB3CC"/>
                </a:solidFill>
              </a:rPr>
              <a:t>Cerchiamo €50K–€100K per portare Dloop ai primi 61 merchant,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CB3CC"/>
                </a:solidFill>
              </a:rPr>
              <a:t>raggiungere il break-even a M11 e costruire il leader verticale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CB3CC"/>
                </a:solidFill>
              </a:rPr>
              <a:t>del delivery locale italiano.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34455"/>
                </a:solidFill>
              </a:rPr>
              <a:t>Founder &amp; CEO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27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Crescenzo Amodio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4526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34455"/>
                </a:solidFill>
              </a:rPr>
              <a:t>Email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0" y="4727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info@dloop.it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526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34455"/>
                </a:solidFill>
              </a:rPr>
              <a:t>Sito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0" y="4727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www.dloop.it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349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34455"/>
                </a:solidFill>
              </a:rPr>
              <a:t>Pitch live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5550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creamoj-ai.github.io/dloop-pitch-deck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5349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34455"/>
                </a:solidFill>
              </a:rPr>
              <a:t>P.IVA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0" y="5550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09532291219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5349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34455"/>
                </a:solidFill>
              </a:rPr>
              <a:t>Telefono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38160" y="5550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+39 373 790 2538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3A4A"/>
                </a:solidFill>
              </a:rPr>
              <a:t>RISERVATO · CAV S.R.L. · Startup Innovativa ex D.L. 3/2015 · Napoli · 2026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7899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Dloop — Investor Pitch Deck 2026</dc:title>
  <dc:subject>Seed Round Pitch Deck</dc:subject>
  <dc:creator>Crescenzo Amodio — CAV S.R.L.</dc:creator>
  <cp:lastModifiedBy>Crescenzo Amodio — CAV S.R.L.</cp:lastModifiedBy>
  <cp:revision>1</cp:revision>
  <dcterms:created xsi:type="dcterms:W3CDTF">2026-03-19T04:08:19Z</dcterms:created>
  <dcterms:modified xsi:type="dcterms:W3CDTF">2026-03-19T04:08:19Z</dcterms:modified>
</cp:coreProperties>
</file>