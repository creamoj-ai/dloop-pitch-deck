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0B7A7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Dl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14B8A6"/>
                </a:solidFill>
              </a:rPr>
              <a:t>SEED PITCH · 2026 · RISERVATO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6858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sistema operativo
</a:t>
            </a:r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delivery locale
</a:t>
            </a:r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italiano.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Dloop è la piattaforma SaaS B2B per operatori di delivery locale in Italia.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WhatsApp nativo · Modello P.IVA · Pricing accessibile alle PMI.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Azienda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CAV S.R.L. — Startup Innovativa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Mercato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9184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Italia · Campania first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Fase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12648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Pre-revenue · MVP pronto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61120" y="5029200"/>
            <a:ext cx="2560320" cy="777240"/>
          </a:xfrm>
          <a:prstGeom prst="rect">
            <a:avLst/>
          </a:prstGeom>
          <a:solidFill>
            <a:srgbClr val="0D2D4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0" y="507492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Ask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961120" y="528523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€ 50.000 – € 100.000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01 / 11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PROBLEMA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inefficienze che frenano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delivery locale italiano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📱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 strumenti dedicati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Merchant gestiscono ordini via WhatsApp personale, telefono e carta. Zero tracciabilità, zero analytics, errori continui.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056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🏍️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48056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Rider senza sistema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I rider P.IVA ricevono incarichi via messaggi informali. Nessuna app, nessuna prova di consegna, nessun percorso ottimizzato.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520440" cy="32004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20574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💸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32104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globali inaccessibili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315468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CB3CC"/>
                </a:solidFill>
              </a:rPr>
              <a:t>Onfleet, Tookan, LogiNext: $500+/mese in inglese, zero localizzazione IT, nessun supporto al modello P.IVA autonomo.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11247120" cy="777240"/>
          </a:xfrm>
          <a:prstGeom prst="rect">
            <a:avLst/>
          </a:prstGeom>
          <a:solidFill>
            <a:srgbClr val="1A2D20"/>
          </a:solidFill>
          <a:ln w="12700">
            <a:solidFill>
              <a:srgbClr val="2D7A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3766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EC8A0"/>
                </a:solidFill>
              </a:rPr>
              <a:t>⚡  Gap di mercato: 45.000+ attività delivery attive in Campania. Solo il 3-5% usa software dedicato. Nessun player offre una soluzione verticale italiana con prezzi PMI.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02 / 11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LA SOLUZIONE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— tutto il delivery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un'unica piattaforma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4767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Dashboard web per merchant: ordini, assegnazione rider, tracking live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58775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51460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App Flutter per rider P.IVA: ordini, navigazione, prova di consegna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22783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1546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WhatsApp Business via Twilio: notifiche ordine real-time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86791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7947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PostGIS + Supabase: routing geografico e zone di consegna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4507992"/>
            <a:ext cx="146304" cy="146304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DD8E8"/>
                </a:solidFill>
              </a:rPr>
              <a:t>Bot WhatsApp AI: raccolta ordini senza app dedicata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5760720" cy="86868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138928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⚖️  Vantaggio legale: Dloop è puro SaaS — i rider fatturano P.IVA → Merchant.</a:t>
            </a:r>
            <a:endParaRPr lang="en-US" sz="10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Nessun rischio lavoro subordinato, zero liability Dloop (modello BlaBlaCar).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164592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49440" y="178308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14B8A6"/>
                </a:solidFill>
              </a:rPr>
              <a:t>DLOOP · NOTIFICA ORDINE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49440" y="2103120"/>
            <a:ext cx="4480560" cy="1508760"/>
          </a:xfrm>
          <a:prstGeom prst="rect">
            <a:avLst/>
          </a:prstGeom>
          <a:solidFill>
            <a:srgbClr val="0D2D3A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0" y="2103120"/>
            <a:ext cx="45720" cy="1508760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86600" y="2148840"/>
            <a:ext cx="4251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🛍️  Nuovo ordine #1042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Pizza Roma — €34,50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Via Garibaldi 12, Napoli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Rider: Marco R. ⭐4.8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C8E8F0"/>
                </a:solidFill>
              </a:rPr>
              <a:t>ETA consegna: 22 min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49440" y="3749040"/>
            <a:ext cx="4480560" cy="822960"/>
          </a:xfrm>
          <a:prstGeom prst="rect">
            <a:avLst/>
          </a:prstGeom>
          <a:solidFill>
            <a:srgbClr val="1A2535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95160" y="379476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✅  Confermato</a:t>
            </a:r>
            <a:endParaRPr lang="en-US" sz="1000" dirty="0"/>
          </a:p>
          <a:p>
            <a:pPr algn="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Rispondi STOP per disattivare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49440" y="4709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via Twilio · WhatsApp Business API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03 / 11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MERCATO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mercato frammentato,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senza ancora un leader verticale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€2,1B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Mercato delivery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locale Italia 2025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SOM target: €12M/anno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45K+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Attività delivery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Napoli + Caserta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Solo 3-5% usa software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520440" cy="23774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205740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€310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138160" y="2880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Revenue media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B3CC"/>
                </a:solidFill>
              </a:rPr>
              <a:t>per dealer/mese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412480" y="3474720"/>
            <a:ext cx="2971800" cy="9144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</a:rPr>
              <a:t>LTV: €7.440 (24 mesi)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4572000"/>
            <a:ext cx="5577840" cy="12344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6344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🏆  Risparmio vs Alfonsino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95604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Un dealer Dloop risparmia +€17.790/anno rispetto ad Alfonsino (marketplace 25-30%). Dloop è puro SaaS — zero commissioni sugli ordini.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309360" y="4572000"/>
            <a:ext cx="5349240" cy="12344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663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🌍  Espansione geografica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956048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Campania → Sud Italia M12 → Nazionale M18. Ogni provincia è un mercato autonomo replicabile.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04 / 11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ANALISI COMPETITIVA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Nessun competitor ha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posizionamento di Dloop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0116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8288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Player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68880" y="1828800"/>
            <a:ext cx="15544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Pricing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023360" y="1828800"/>
            <a:ext cx="123444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23360" y="18288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WhatsApp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nativo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257800" y="1828800"/>
            <a:ext cx="123444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182880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Modello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P.IVA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9224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In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Italiano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58952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PMI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ready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686800" y="1828800"/>
            <a:ext cx="1097280" cy="411480"/>
          </a:xfrm>
          <a:prstGeom prst="rect">
            <a:avLst/>
          </a:prstGeom>
          <a:solidFill>
            <a:srgbClr val="0A2A4A"/>
          </a:solidFill>
          <a:ln w="12700">
            <a:solidFill>
              <a:srgbClr val="1A3A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0" y="1828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SaaS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4B8A6"/>
                </a:solidFill>
              </a:rPr>
              <a:t>puro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240280"/>
            <a:ext cx="2011680" cy="56692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2240280"/>
            <a:ext cx="54864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22402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🟢 Dloop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468880" y="2240280"/>
            <a:ext cx="1554480" cy="56692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68880" y="224028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€39–€499/mese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023360" y="2240280"/>
            <a:ext cx="1234440" cy="56692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24028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257800" y="2240280"/>
            <a:ext cx="1234440" cy="56692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57800" y="224028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92240" y="2240280"/>
            <a:ext cx="1097280" cy="56692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22402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589520" y="2240280"/>
            <a:ext cx="1097280" cy="56692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89520" y="22402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686800" y="2240280"/>
            <a:ext cx="1097280" cy="566928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0" y="22402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2852928"/>
            <a:ext cx="20116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285292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Onfleet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468880" y="2852928"/>
            <a:ext cx="15544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285292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B3CC"/>
                </a:solidFill>
              </a:rPr>
              <a:t>$500+/mese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023360" y="2852928"/>
            <a:ext cx="123444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23360" y="285292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57800" y="2852928"/>
            <a:ext cx="123444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57800" y="285292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92240" y="2852928"/>
            <a:ext cx="10972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0" y="285292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7589520" y="2852928"/>
            <a:ext cx="10972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89520" y="285292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8686800" y="2852928"/>
            <a:ext cx="10972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86800" y="285292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57200" y="3465576"/>
            <a:ext cx="2011680" cy="56692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34655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Tookan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468880" y="3465576"/>
            <a:ext cx="1554480" cy="56692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68880" y="346557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B3CC"/>
                </a:solidFill>
              </a:rPr>
              <a:t>$99–$299/mese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023360" y="3465576"/>
            <a:ext cx="1234440" cy="56692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23360" y="3465576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257800" y="3465576"/>
            <a:ext cx="1234440" cy="56692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7800" y="3465576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6492240" y="3465576"/>
            <a:ext cx="1097280" cy="56692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92240" y="346557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7589520" y="3465576"/>
            <a:ext cx="1097280" cy="56692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589520" y="346557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9E0B"/>
                </a:solidFill>
              </a:rPr>
              <a:t>~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8686800" y="3465576"/>
            <a:ext cx="1097280" cy="56692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686800" y="346557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457200" y="4078224"/>
            <a:ext cx="20116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7200" y="407822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LogiNext Mile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2468880" y="4078224"/>
            <a:ext cx="15544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468880" y="407822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B3CC"/>
                </a:solidFill>
              </a:rPr>
              <a:t>Enterprise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4023360" y="4078224"/>
            <a:ext cx="123444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23360" y="4078224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5257800" y="4078224"/>
            <a:ext cx="123444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257800" y="4078224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6492240" y="4078224"/>
            <a:ext cx="10972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92240" y="407822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7589520" y="4078224"/>
            <a:ext cx="10972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589520" y="407822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686800" y="4078224"/>
            <a:ext cx="10972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686800" y="407822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457200" y="4690872"/>
            <a:ext cx="2011680" cy="56692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57200" y="469087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Alfonsino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2468880" y="4690872"/>
            <a:ext cx="1554480" cy="56692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468880" y="469087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B3CC"/>
                </a:solidFill>
              </a:rPr>
              <a:t>25-30% comm.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4023360" y="4690872"/>
            <a:ext cx="1234440" cy="56692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023360" y="46908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9E0B"/>
                </a:solidFill>
              </a:rPr>
              <a:t>~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257800" y="4690872"/>
            <a:ext cx="1234440" cy="56692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257800" y="4690872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6492240" y="4690872"/>
            <a:ext cx="1097280" cy="56692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492240" y="469087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7589520" y="4690872"/>
            <a:ext cx="1097280" cy="56692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589520" y="469087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9E0B"/>
                </a:solidFill>
              </a:rPr>
              <a:t>~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8686800" y="4690872"/>
            <a:ext cx="1097280" cy="566928"/>
          </a:xfrm>
          <a:prstGeom prst="rect">
            <a:avLst/>
          </a:prstGeom>
          <a:solidFill>
            <a:srgbClr val="0F1E3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686800" y="469087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457200" y="5303520"/>
            <a:ext cx="20116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57200" y="53035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Bringg / eLogii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2468880" y="5303520"/>
            <a:ext cx="15544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468880" y="530352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B3CC"/>
                </a:solidFill>
              </a:rPr>
              <a:t>Enterprise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4023360" y="5303520"/>
            <a:ext cx="123444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023360" y="53035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5257800" y="5303520"/>
            <a:ext cx="123444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257800" y="5303520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97" name="Shape 95"/>
          <p:cNvSpPr/>
          <p:nvPr/>
        </p:nvSpPr>
        <p:spPr>
          <a:xfrm>
            <a:off x="6492240" y="5303520"/>
            <a:ext cx="10972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492240" y="53035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7589520" y="5303520"/>
            <a:ext cx="10972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589520" y="53035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455"/>
                </a:solidFill>
              </a:rPr>
              <a:t>✗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686800" y="5303520"/>
            <a:ext cx="1097280" cy="56692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686800" y="53035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</a:rPr>
              <a:t>✓</a:t>
            </a:r>
            <a:endParaRPr lang="en-US" sz="1300" dirty="0"/>
          </a:p>
        </p:txBody>
      </p:sp>
      <p:sp>
        <p:nvSpPr>
          <p:cNvPr id="103" name="Text 101"/>
          <p:cNvSpPr/>
          <p:nvPr/>
        </p:nvSpPr>
        <p:spPr>
          <a:xfrm>
            <a:off x="457200" y="6080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✓ = sì  |  ✗ = no  |  ~ = parziale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05 / 11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BUSINESS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Canone SaaS + fee per ordine.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Ricavi multipli, costi fissi.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4B8A6"/>
                </a:solidFill>
              </a:rPr>
              <a:t>SMB — Merchant singoli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5394960" cy="54864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945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Starter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50 ord. inclusi · €0,80/extra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0" y="21488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€39/mese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61488"/>
            <a:ext cx="5394960" cy="548640"/>
          </a:xfrm>
          <a:prstGeom prst="rect">
            <a:avLst/>
          </a:prstGeom>
          <a:solidFill>
            <a:srgbClr val="0D3D3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0720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  ★ Più popolare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03580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100 ord. inclusi · €0,80/extra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14800" y="2761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€79/mese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374136"/>
            <a:ext cx="5394960" cy="54864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19856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Enterprise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648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B3CC"/>
                </a:solidFill>
              </a:rPr>
              <a:t>250 ord. inclusi · €0,50/extra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114800" y="3374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€149/mese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0233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4B8A6"/>
                </a:solidFill>
              </a:rPr>
              <a:t>B2B Operator — Flotte delivery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343400"/>
            <a:ext cx="5394960" cy="438912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37083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Starter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572000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500 ord. inclusi · €0,90/extra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114800" y="43434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€99/mese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837176"/>
            <a:ext cx="5394960" cy="438912"/>
          </a:xfrm>
          <a:prstGeom prst="rect">
            <a:avLst/>
          </a:prstGeom>
          <a:solidFill>
            <a:srgbClr val="0D3D3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8646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Business ★ Target ADV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5065776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1.500 ord. inclusi · €0,60/extra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114800" y="483717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€199/mese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330952"/>
            <a:ext cx="5394960" cy="438912"/>
          </a:xfrm>
          <a:prstGeom prst="rect">
            <a:avLst/>
          </a:prstGeom>
          <a:solidFill>
            <a:srgbClr val="0A302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35838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</a:rPr>
              <a:t>Business Plus ★ NUOVO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" y="555955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3.000 ord. inclusi · €0,45/extra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114800" y="533095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DE80"/>
                </a:solidFill>
              </a:rPr>
              <a:t>€299/mese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824728"/>
            <a:ext cx="5394960" cy="438912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85216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0080" y="6053328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5.000 ord. inclusi · €0,30/extra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114800" y="58247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€499/mese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0" y="1828800"/>
            <a:ext cx="5257800" cy="3200400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83680" y="192024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4B8A6"/>
                </a:solidFill>
              </a:rPr>
              <a:t>UNIT ECONOMICS PER ORDINE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83680" y="23042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Revenue blended/ordine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509760" y="23042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€ 2,07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583680" y="273405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Costo variabile/ordine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509760" y="273405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€0,55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83680" y="316382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Margine/ordine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509760" y="3163824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€ 1,52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583680" y="3575304"/>
            <a:ext cx="4846320" cy="0"/>
          </a:xfrm>
          <a:prstGeom prst="line">
            <a:avLst/>
          </a:prstGeom>
          <a:noFill/>
          <a:ln w="12700">
            <a:solidFill>
              <a:srgbClr val="0B7A75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6583680" y="35935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Gross Margin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509760" y="359359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583680" y="40233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Revenue media/dealer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509760" y="40233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€ 310/mese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583680" y="44531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Break-even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9509760" y="44531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@ 61 dealer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400800" y="5166360"/>
            <a:ext cx="5257800" cy="7772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83680" y="523036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💰  Saving dealer vs Alfonsino: +€17.790/anno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🚀  WhatsApp Bot add-on: +€39–78/mese/dealer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06 / 11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PROIEZIONI FINANZIARIE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Break-even M11 @ 61 dealer.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LTV:CAC 16-18x.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M11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Break-even operativo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@ 61 dealer attivi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Gross Margin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38328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 SaaS: &gt;70%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16-18x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LTV:CAC Ratio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 VC: &gt;3x ✓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235440" y="1828800"/>
            <a:ext cx="2697480" cy="173736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192024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mesi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35440" y="26517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CAC Payback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235440" y="2944368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B3CC"/>
                </a:solidFill>
              </a:rPr>
              <a:t>Benchmark: &lt;18 mesi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B8A6"/>
                </a:solidFill>
              </a:rPr>
              <a:t>Crescita MRR — Scenario Guerriglia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801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€ 744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seed ricevuto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004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0233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€ 3.021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004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scala outreach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43600" y="4114800"/>
            <a:ext cx="2468880" cy="777240"/>
          </a:xfrm>
          <a:prstGeom prst="rect">
            <a:avLst/>
          </a:prstGeom>
          <a:solidFill>
            <a:srgbClr val="0A2A2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M11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€ 13.000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break-even ✓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686800" y="4114800"/>
            <a:ext cx="2468880" cy="77724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CB3CC"/>
                </a:solidFill>
              </a:rPr>
              <a:t>M18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509760" y="4160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€ 25.000+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686800" y="44805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8A9A"/>
                </a:solidFill>
              </a:rPr>
              <a:t>regime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217920" y="37947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4B8A6"/>
                </a:solidFill>
              </a:rPr>
              <a:t>P&amp;L Anno 1 — Guerriglia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41605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Burn totale Anno 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326880" y="4160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€ 74.694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461772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4663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OpEx mensile (3 FTE)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326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C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€9.400–€13.800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5120640"/>
            <a:ext cx="5394960" cy="438912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5166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CAC Guerriglia M1-M4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326880" y="5166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€ 42/dealer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17920" y="5623560"/>
            <a:ext cx="5394960" cy="438912"/>
          </a:xfrm>
          <a:prstGeom prst="rect">
            <a:avLst/>
          </a:prstGeom>
          <a:solidFill>
            <a:srgbClr val="0A2A20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0" y="5669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Saving vs Alfonsino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326880" y="5669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+€17.790/anno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07 / 11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TRAZIONE E VALIDAZIONE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MVP pronto. Primi merchant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già identificati.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216712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29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App Rider Flutter — prototipo funzionante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2219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Sviluppato da Saba (CTO, P.IVA). Ordini, navigazione, prova di consegna. Pronto deploy iOS/Android.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321868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80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WhatsApp Bot dual-AI (Operai + Haiku)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32735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Strategia parallela con fallback integrato. Costo ~€78/anno, 95% accuratezza. File deployment pronti.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27024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0325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Pipeline warm: 3-5 merchant certi a M1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432511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CEO outreach diretto. Mario Cucciolito (Pet) e rete personale Pomigliano/Napoli. Zero paid ads M1-M4.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532180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50840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ADV Advertising Company — target B2B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8680" y="537667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Operatore logistico Napoli identificato come primo cliente Business tier (500-1.000 ordini/mese).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920" y="187452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216712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1929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Stack tecnico production-ready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29400" y="222199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Flutter + Supabase/PostGIS + Firebase + Twilio WhatsApp Business. Architettura verificata e deployable.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17920" y="292608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5080" y="321868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29809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Struttura legale verificata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29400" y="327355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CAV S.R.L. startup innovativa D.L. 3/2015. P.IVA 09532291219. Modello BlaBlaCar-style validato.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7764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55080" y="4270248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40325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Verifica Twilio in corso (Case #1380112390587406)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29400" y="432511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Documentazione inviata. Fallback alternativo pronto. WhatsApp Business API operativa entro 15gg.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5029200"/>
            <a:ext cx="5486400" cy="96012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55080" y="5321808"/>
            <a:ext cx="164592" cy="164592"/>
          </a:xfrm>
          <a:prstGeom prst="ellipse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29400" y="508406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GitHub pubblico con pitch deck live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29400" y="5376672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8CB3CC"/>
                </a:solidFill>
              </a:rPr>
              <a:t>github.com/creamoj-ai/dloop-pitch-deck — due diligence tecnica aperta. GitHub Pages attivo.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08 / 11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TEAM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Founder-led, asset-light,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esecuzione guerriglia.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0B7A7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Crescenzo Amodio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Founder &amp; CEO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Imprenditore seriale, Pomigliano d'Arco (NA). Gestisce CAV S.R.L. e B&amp;B Dloop. Fa sales direttamente M1-M4 (guerriglia). Coordina pitch MoodCapital.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9768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0B7A75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Saba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8056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CTO / Lead Dev — P.IVA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Sviluppatore Flutter senior. Ha costruito il prototipo Rider App e architettura Supabase/PostGIS. Collaborazione continuativa come autonomo.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920240"/>
            <a:ext cx="3520440" cy="3657600"/>
          </a:xfrm>
          <a:prstGeom prst="rect">
            <a:avLst/>
          </a:prstGeom>
          <a:solidFill>
            <a:srgbClr val="0F2535"/>
          </a:solidFill>
          <a:ln w="12700">
            <a:solidFill>
              <a:srgbClr val="3344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66760" y="2103120"/>
            <a:ext cx="685800" cy="685800"/>
          </a:xfrm>
          <a:prstGeom prst="roundRect">
            <a:avLst>
              <a:gd name="adj" fmla="val 10667"/>
            </a:avLst>
          </a:prstGeom>
          <a:solidFill>
            <a:srgbClr val="2D3748"/>
          </a:solidFill>
          <a:ln/>
        </p:spPr>
      </p:sp>
      <p:sp>
        <p:nvSpPr>
          <p:cNvPr id="18" name="Text 16"/>
          <p:cNvSpPr/>
          <p:nvPr/>
        </p:nvSpPr>
        <p:spPr>
          <a:xfrm>
            <a:off x="83667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+4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Hiring Plan 2026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21040" y="32461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B8A6"/>
                </a:solidFill>
              </a:rPr>
              <a:t>Con il seed round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321040" y="356616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8CB3CC"/>
                </a:solidFill>
              </a:rPr>
              <a:t>Customer Success (M4), Marketing Exec (M4), Sales BDR (M5 — 3 mesi prima del Conservative), Dev Junior P.IVA (M7), Back Office (M6).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solidFill>
            <a:srgbClr val="0A2A28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⚡  Vantaggio Guerriglia: CEO fa outreach M1-M4 (CAC €42/dealer). Sales BDR da M5 — 3 mesi prima del Conservative — anticipa il picco acquisizione.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09 / 11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FUNDRAISING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€50K–€100K seed.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Runway 16 mesi verso break-even.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4114800" cy="4206240"/>
          </a:xfrm>
          <a:prstGeom prst="rect">
            <a:avLst/>
          </a:prstGeom>
          <a:solidFill>
            <a:srgbClr val="0A3030"/>
          </a:solidFill>
          <a:ln w="12700">
            <a:solidFill>
              <a:srgbClr val="0B7A7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ASK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€75.000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(range €50K – €100K)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2960" y="3566160"/>
            <a:ext cx="3383280" cy="0"/>
          </a:xfrm>
          <a:prstGeom prst="line">
            <a:avLst/>
          </a:prstGeom>
          <a:noFill/>
          <a:ln w="12700">
            <a:solidFill>
              <a:srgbClr val="0B7A75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640080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Struttura: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11680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Pure equity / SAFE note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41422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MoodCapital: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011680" y="4142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Contatto attivo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45811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Mario C.: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11680" y="4581144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€10-20K — Tier 1, marzo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50200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M3: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11680" y="502005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Primo batch 5 merchant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5458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B3CC"/>
                </a:solidFill>
              </a:rPr>
              <a:t>M11: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5458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Break-even @ 61 dealer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19202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4B8A6"/>
                </a:solidFill>
              </a:rPr>
              <a:t>USO DEI FONDI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37760" y="2377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Sviluppo prodotto (Saba)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37760" y="26517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0" y="2651760"/>
            <a:ext cx="2176272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247120" y="26517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35%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30632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Sales &amp; Marketing M1-M6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37760" y="33375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37760" y="3337560"/>
            <a:ext cx="1554480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247120" y="33375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25%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37760" y="37490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CEO + Operations M1-M6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37760" y="40233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37760" y="4023360"/>
            <a:ext cx="1243584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0" y="40233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20%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37760" y="44348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Infrastruttura cloud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37760" y="47091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37760" y="4709160"/>
            <a:ext cx="746150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247120" y="4709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12%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937760" y="51206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B3CC"/>
                </a:solidFill>
              </a:rPr>
              <a:t>Legale, GDPR, Iubenda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37760" y="5394960"/>
            <a:ext cx="6217920" cy="201168"/>
          </a:xfrm>
          <a:prstGeom prst="rect">
            <a:avLst/>
          </a:prstGeom>
          <a:solidFill>
            <a:srgbClr val="0A1929"/>
          </a:solidFill>
          <a:ln w="12700">
            <a:solidFill>
              <a:srgbClr val="1A3A5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37760" y="5394960"/>
            <a:ext cx="497434" cy="201168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247120" y="53949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B8A6"/>
                </a:solidFill>
              </a:rPr>
              <a:t>8%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937760" y="5623560"/>
            <a:ext cx="6675120" cy="731520"/>
          </a:xfrm>
          <a:prstGeom prst="rect">
            <a:avLst/>
          </a:prstGeom>
          <a:solidFill>
            <a:srgbClr val="1A2D20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120640" y="566928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⚡  Anno 1 Burn: €74.694 (–77% vs Conservative da €331K)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EC8A0"/>
                </a:solidFill>
              </a:rPr>
              <a:t>Modello Guerriglia = breakeven con il seed senza secondo round.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10 / 11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F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14B8A6"/>
                </a:solidFill>
              </a:rPr>
              <a:t>IL PROSSIMO PASSO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Dloop è 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pronto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mercato è 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aperto</a:t>
            </a:r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Manca solo il 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trigger.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5661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Cerchiamo €50K–€100K per portare Dloop ai primi 61 merchant,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raggiungere il break-even a M11 e costruire il leader verticale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8CB3CC"/>
                </a:solidFill>
              </a:rPr>
              <a:t>del delivery locale italiano.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6177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Founder &amp; CEO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48188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Crescenzo Amodio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0" y="46177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Email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0" y="48188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info@dloop.it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0" y="46177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Sito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0" y="481888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www.dloop.it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54406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Pitch live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57200" y="5641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creamoj-ai.github.io/dloop-pitch-deck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0" y="544068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334455"/>
                </a:solidFill>
              </a:rPr>
              <a:t>P.IVA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486400" y="5641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IT 09532291219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3A4A"/>
                </a:solidFill>
              </a:rPr>
              <a:t>RISERVATO · CAV S.R.L. · Startup Innovativa ex D.L. 3/2015 · Napoli · 2026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0789920" y="63093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34455"/>
                </a:solidFill>
              </a:rPr>
              <a:t>11 / 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Dloop — Investor Pitch Deck 2026</dc:title>
  <dc:subject>Seed Round Pitch Deck</dc:subject>
  <dc:creator>Crescenzo Amodio — CAV S.R.L.</dc:creator>
  <cp:lastModifiedBy>Crescenzo Amodio — CAV S.R.L.</cp:lastModifiedBy>
  <cp:revision>1</cp:revision>
  <dcterms:created xsi:type="dcterms:W3CDTF">2026-03-19T03:20:44Z</dcterms:created>
  <dcterms:modified xsi:type="dcterms:W3CDTF">2026-03-19T03:20:44Z</dcterms:modified>
</cp:coreProperties>
</file>