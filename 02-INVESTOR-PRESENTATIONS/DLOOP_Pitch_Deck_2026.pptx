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F3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594360" cy="594360"/>
          </a:xfrm>
          <a:prstGeom prst="roundRect">
            <a:avLst>
              <a:gd name="adj" fmla="val 12308"/>
            </a:avLst>
          </a:prstGeom>
          <a:solidFill>
            <a:srgbClr val="0B7A75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Dl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123444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300" kern="0" dirty="0">
                <a:solidFill>
                  <a:srgbClr val="14B8A6"/>
                </a:solidFill>
              </a:rPr>
              <a:t>SEED PITCH · 2026 · RISERVATO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1600200"/>
            <a:ext cx="6858000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Il sistema operativo
</a:t>
            </a:r>
            <a:pPr indent="0" marL="0">
              <a:lnSpc>
                <a:spcPct val="115000"/>
              </a:lnSpc>
              <a:buNone/>
            </a:pPr>
            <a:r>
              <a:rPr lang="en-US" sz="4400" b="1" dirty="0">
                <a:solidFill>
                  <a:srgbClr val="F59E0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del delivery locale
</a:t>
            </a:r>
            <a:pPr indent="0" marL="0">
              <a:lnSpc>
                <a:spcPct val="115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italiano.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931920"/>
            <a:ext cx="6400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8CB3CC"/>
                </a:solidFill>
              </a:rPr>
              <a:t>Dloop è la piattaforma SaaS B2B per operatori di delivery locale in Italia.</a:t>
            </a:r>
            <a:endParaRPr lang="en-US" sz="13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8CB3CC"/>
                </a:solidFill>
              </a:rPr>
              <a:t>WhatsApp nativo · Modello P.IVA · Pricing accessibile alle PMI.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5029200"/>
            <a:ext cx="2560320" cy="777240"/>
          </a:xfrm>
          <a:prstGeom prst="rect">
            <a:avLst/>
          </a:prstGeom>
          <a:solidFill>
            <a:srgbClr val="0D2D4A"/>
          </a:solidFill>
          <a:ln w="12700">
            <a:solidFill>
              <a:srgbClr val="0B7A7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5074920"/>
            <a:ext cx="2560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200" kern="0" dirty="0">
                <a:solidFill>
                  <a:srgbClr val="14B8A6"/>
                </a:solidFill>
              </a:rPr>
              <a:t>Azienda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457200" y="5285232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CAV S.R.L. — Startup Innovativa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291840" y="5029200"/>
            <a:ext cx="2560320" cy="777240"/>
          </a:xfrm>
          <a:prstGeom prst="rect">
            <a:avLst/>
          </a:prstGeom>
          <a:solidFill>
            <a:srgbClr val="0D2D4A"/>
          </a:solidFill>
          <a:ln w="12700">
            <a:solidFill>
              <a:srgbClr val="0B7A7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291840" y="5074920"/>
            <a:ext cx="2560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200" kern="0" dirty="0">
                <a:solidFill>
                  <a:srgbClr val="14B8A6"/>
                </a:solidFill>
              </a:rPr>
              <a:t>Mercato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3291840" y="5285232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Italia · Campania first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126480" y="5029200"/>
            <a:ext cx="2560320" cy="777240"/>
          </a:xfrm>
          <a:prstGeom prst="rect">
            <a:avLst/>
          </a:prstGeom>
          <a:solidFill>
            <a:srgbClr val="0D2D4A"/>
          </a:solidFill>
          <a:ln w="12700">
            <a:solidFill>
              <a:srgbClr val="0B7A7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126480" y="5074920"/>
            <a:ext cx="2560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200" kern="0" dirty="0">
                <a:solidFill>
                  <a:srgbClr val="14B8A6"/>
                </a:solidFill>
              </a:rPr>
              <a:t>Fase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6126480" y="5285232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Pre-revenue · MVP pronto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8961120" y="5029200"/>
            <a:ext cx="2560320" cy="777240"/>
          </a:xfrm>
          <a:prstGeom prst="rect">
            <a:avLst/>
          </a:prstGeom>
          <a:solidFill>
            <a:srgbClr val="0D2D4A"/>
          </a:solidFill>
          <a:ln w="12700">
            <a:solidFill>
              <a:srgbClr val="0B7A7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961120" y="5074920"/>
            <a:ext cx="2560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200" kern="0" dirty="0">
                <a:solidFill>
                  <a:srgbClr val="14B8A6"/>
                </a:solidFill>
              </a:rPr>
              <a:t>Ask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8961120" y="5285232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€ 90.000 – € 150.000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10789920" y="630936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334455"/>
                </a:solidFill>
              </a:rPr>
              <a:t>01 / 12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19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14B8A6"/>
                </a:solidFill>
              </a:rPr>
              <a:t>IL PROBLEMA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640080"/>
            <a:ext cx="73152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 inefficienze che frenano</a:t>
            </a:r>
            <a:endParaRPr lang="en-US" sz="34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il delivery locale italiano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457200" y="1920240"/>
            <a:ext cx="3520440" cy="3200400"/>
          </a:xfrm>
          <a:prstGeom prst="rect">
            <a:avLst/>
          </a:prstGeom>
          <a:solidFill>
            <a:srgbClr val="0F2535"/>
          </a:solidFill>
          <a:ln w="12700">
            <a:solidFill>
              <a:srgbClr val="1A3A50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40080" y="205740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📱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640080" y="265176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Zero strumenti dedicati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3154680"/>
            <a:ext cx="3108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CB3CC"/>
                </a:solidFill>
              </a:rPr>
              <a:t>Merchant gestiscono ordini via WhatsApp personale, telefono e carta. Zero tracciabilità, zero analytics, errori continui.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1920240"/>
            <a:ext cx="3520440" cy="3200400"/>
          </a:xfrm>
          <a:prstGeom prst="rect">
            <a:avLst/>
          </a:prstGeom>
          <a:solidFill>
            <a:srgbClr val="0F2535"/>
          </a:solidFill>
          <a:ln w="12700">
            <a:solidFill>
              <a:srgbClr val="1A3A50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5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4480560" y="205740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🏍️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4480560" y="265176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Rider senza sistema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480560" y="3154680"/>
            <a:ext cx="3108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CB3CC"/>
                </a:solidFill>
              </a:rPr>
              <a:t>I rider P.IVA ricevono incarichi via messaggi informali. Nessuna app, nessuna prova di consegna, nessun percorso ottimizzato.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138160" y="1920240"/>
            <a:ext cx="3520440" cy="3200400"/>
          </a:xfrm>
          <a:prstGeom prst="rect">
            <a:avLst/>
          </a:prstGeom>
          <a:solidFill>
            <a:srgbClr val="0F2535"/>
          </a:solidFill>
          <a:ln w="12700">
            <a:solidFill>
              <a:srgbClr val="1A3A50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8321040" y="205740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💸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8321040" y="265176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Software globali inaccessibili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321040" y="3154680"/>
            <a:ext cx="3108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CB3CC"/>
                </a:solidFill>
              </a:rPr>
              <a:t>Onfleet, Tookan, LogiNext: $500+/mese in inglese, zero localizzazione IT, nessun supporto al modello P.IVA autonomo.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5303520"/>
            <a:ext cx="11247120" cy="777240"/>
          </a:xfrm>
          <a:prstGeom prst="rect">
            <a:avLst/>
          </a:prstGeom>
          <a:solidFill>
            <a:srgbClr val="1A2D20"/>
          </a:solidFill>
          <a:ln w="12700">
            <a:solidFill>
              <a:srgbClr val="2D7A4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0080" y="5376672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7EC8A0"/>
                </a:solidFill>
              </a:rPr>
              <a:t>⚡  Gap di mercato: 45.000+ attività delivery attive in Campania. Solo il 3-5% usa software dedicato. Nessun player offre una soluzione verticale italiana con prezzi PMI.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0789920" y="630936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334455"/>
                </a:solidFill>
              </a:rPr>
              <a:t>02 / 12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D1F3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14B8A6"/>
                </a:solidFill>
              </a:rPr>
              <a:t>LA SOLUZIONE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640080"/>
            <a:ext cx="73152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Dloop — tutto il delivery</a:t>
            </a:r>
            <a:endParaRPr lang="en-US" sz="34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 un'unica piattaforma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457200" y="1947672"/>
            <a:ext cx="146304" cy="146304"/>
          </a:xfrm>
          <a:prstGeom prst="ellipse">
            <a:avLst/>
          </a:prstGeom>
          <a:solidFill>
            <a:srgbClr val="14B8A6"/>
          </a:solidFill>
          <a:ln w="12700">
            <a:solidFill>
              <a:srgbClr val="14B8A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874520"/>
            <a:ext cx="5303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BDD8E8"/>
                </a:solidFill>
              </a:rPr>
              <a:t>Dashboard web per merchant: ordini, assegnazione rider, tracking live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57200" y="2587752"/>
            <a:ext cx="146304" cy="146304"/>
          </a:xfrm>
          <a:prstGeom prst="ellipse">
            <a:avLst/>
          </a:prstGeom>
          <a:solidFill>
            <a:srgbClr val="14B8A6"/>
          </a:solidFill>
          <a:ln w="12700">
            <a:solidFill>
              <a:srgbClr val="14B8A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2514600"/>
            <a:ext cx="5303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BDD8E8"/>
                </a:solidFill>
              </a:rPr>
              <a:t>App Flutter per rider P.IVA: ordini, navigazione, prova di consegna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3227832"/>
            <a:ext cx="146304" cy="146304"/>
          </a:xfrm>
          <a:prstGeom prst="ellipse">
            <a:avLst/>
          </a:prstGeom>
          <a:solidFill>
            <a:srgbClr val="14B8A6"/>
          </a:solidFill>
          <a:ln w="12700">
            <a:solidFill>
              <a:srgbClr val="14B8A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3154680"/>
            <a:ext cx="5303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BDD8E8"/>
                </a:solidFill>
              </a:rPr>
              <a:t>WhatsApp Business via Twilio: notifiche ordine real-time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57200" y="3867912"/>
            <a:ext cx="146304" cy="146304"/>
          </a:xfrm>
          <a:prstGeom prst="ellipse">
            <a:avLst/>
          </a:prstGeom>
          <a:solidFill>
            <a:srgbClr val="14B8A6"/>
          </a:solidFill>
          <a:ln w="12700">
            <a:solidFill>
              <a:srgbClr val="14B8A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3794760"/>
            <a:ext cx="5303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BDD8E8"/>
                </a:solidFill>
              </a:rPr>
              <a:t>PostGIS + Supabase: routing geografico e zone di consegna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57200" y="4507992"/>
            <a:ext cx="146304" cy="146304"/>
          </a:xfrm>
          <a:prstGeom prst="ellipse">
            <a:avLst/>
          </a:prstGeom>
          <a:solidFill>
            <a:srgbClr val="14B8A6"/>
          </a:solidFill>
          <a:ln w="12700">
            <a:solidFill>
              <a:srgbClr val="14B8A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31520" y="4434840"/>
            <a:ext cx="5303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BDD8E8"/>
                </a:solidFill>
              </a:rPr>
              <a:t>Bot WhatsApp AI: raccolta ordini senza app dedicata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57200" y="5074920"/>
            <a:ext cx="5760720" cy="868680"/>
          </a:xfrm>
          <a:prstGeom prst="rect">
            <a:avLst/>
          </a:prstGeom>
          <a:solidFill>
            <a:srgbClr val="0A2A28"/>
          </a:solidFill>
          <a:ln w="12700">
            <a:solidFill>
              <a:srgbClr val="0B7A7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0080" y="5138928"/>
            <a:ext cx="5394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000" dirty="0">
                <a:solidFill>
                  <a:srgbClr val="7EC8A0"/>
                </a:solidFill>
              </a:rPr>
              <a:t>⚖️  Vantaggio legale: Dloop è puro SaaS — i rider fatturano P.IVA → Merchant.</a:t>
            </a:r>
            <a:endParaRPr lang="en-US" sz="10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000" dirty="0">
                <a:solidFill>
                  <a:srgbClr val="7EC8A0"/>
                </a:solidFill>
              </a:rPr>
              <a:t>Nessun rischio lavoro subordinato, zero liability Dloop (modello BlaBlaCar).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766560" y="1645920"/>
            <a:ext cx="4846320" cy="4389120"/>
          </a:xfrm>
          <a:prstGeom prst="roundRect">
            <a:avLst>
              <a:gd name="adj" fmla="val 3125"/>
            </a:avLst>
          </a:prstGeom>
          <a:solidFill>
            <a:srgbClr val="0A1929"/>
          </a:solidFill>
          <a:ln w="12700">
            <a:solidFill>
              <a:srgbClr val="1A3A50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5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6949440" y="1783080"/>
            <a:ext cx="4480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200" kern="0" dirty="0">
                <a:solidFill>
                  <a:srgbClr val="14B8A6"/>
                </a:solidFill>
              </a:rPr>
              <a:t>DLOOP · NOTIFICA ORDINE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6949440" y="2103120"/>
            <a:ext cx="4480560" cy="1508760"/>
          </a:xfrm>
          <a:prstGeom prst="rect">
            <a:avLst/>
          </a:prstGeom>
          <a:solidFill>
            <a:srgbClr val="0D2D3A"/>
          </a:solidFill>
          <a:ln w="12700">
            <a:solidFill>
              <a:srgbClr val="0B7A7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949440" y="2103120"/>
            <a:ext cx="45720" cy="1508760"/>
          </a:xfrm>
          <a:prstGeom prst="rect">
            <a:avLst/>
          </a:prstGeom>
          <a:solidFill>
            <a:srgbClr val="0B7A75"/>
          </a:solidFill>
          <a:ln w="12700">
            <a:solidFill>
              <a:srgbClr val="0B7A7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086600" y="2148840"/>
            <a:ext cx="42519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C8E8F0"/>
                </a:solidFill>
              </a:rPr>
              <a:t>🛍️  Nuovo ordine #1042</a:t>
            </a:r>
            <a:endParaRPr lang="en-US" sz="11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C8E8F0"/>
                </a:solidFill>
              </a:rPr>
              <a:t>Pizza Roma — €34,50</a:t>
            </a:r>
            <a:endParaRPr lang="en-US" sz="11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C8E8F0"/>
                </a:solidFill>
              </a:rPr>
              <a:t>Via Garibaldi 12, Napoli</a:t>
            </a:r>
            <a:endParaRPr lang="en-US" sz="1100" dirty="0"/>
          </a:p>
          <a:p>
            <a:pPr indent="0" marL="0">
              <a:lnSpc>
                <a:spcPct val="140000"/>
              </a:lnSpc>
              <a:buNone/>
            </a:pPr>
            <a:endParaRPr lang="en-US" sz="11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C8E8F0"/>
                </a:solidFill>
              </a:rPr>
              <a:t>Rider: Marco R. ⭐4.8</a:t>
            </a:r>
            <a:endParaRPr lang="en-US" sz="11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C8E8F0"/>
                </a:solidFill>
              </a:rPr>
              <a:t>ETA consegna: 22 min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6949440" y="3749040"/>
            <a:ext cx="4480560" cy="822960"/>
          </a:xfrm>
          <a:prstGeom prst="rect">
            <a:avLst/>
          </a:prstGeom>
          <a:solidFill>
            <a:srgbClr val="1A2535"/>
          </a:solidFill>
          <a:ln w="12700">
            <a:solidFill>
              <a:srgbClr val="334455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995160" y="3794760"/>
            <a:ext cx="4389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CB3CC"/>
                </a:solidFill>
              </a:rPr>
              <a:t>✅  Confermato</a:t>
            </a:r>
            <a:endParaRPr lang="en-US" sz="1000" dirty="0"/>
          </a:p>
          <a:p>
            <a:pPr algn="r"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CB3CC"/>
                </a:solidFill>
              </a:rPr>
              <a:t>Rispondi STOP per disattivare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6949440" y="470916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34455"/>
                </a:solidFill>
              </a:rPr>
              <a:t>via Twilio · WhatsApp Business API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10789920" y="630936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334455"/>
                </a:solidFill>
              </a:rPr>
              <a:t>03 / 12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19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14B8A6"/>
                </a:solidFill>
              </a:rPr>
              <a:t>MERCATO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640080"/>
            <a:ext cx="8229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Un mercato frammentato,</a:t>
            </a:r>
            <a:endParaRPr lang="en-US" sz="34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senza ancora un leader verticale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457200" y="1920240"/>
            <a:ext cx="3520440" cy="2377440"/>
          </a:xfrm>
          <a:prstGeom prst="rect">
            <a:avLst/>
          </a:prstGeom>
          <a:solidFill>
            <a:srgbClr val="0A2A28"/>
          </a:solidFill>
          <a:ln w="12700">
            <a:solidFill>
              <a:srgbClr val="0B7A7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2057400"/>
            <a:ext cx="3520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4B8A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€2,1B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457200" y="2880360"/>
            <a:ext cx="3520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8CB3CC"/>
                </a:solidFill>
              </a:rPr>
              <a:t>Mercato delivery</a:t>
            </a:r>
            <a:endParaRPr lang="en-US" sz="12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8CB3CC"/>
                </a:solidFill>
              </a:rPr>
              <a:t>locale Italia 2025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474720"/>
            <a:ext cx="2971800" cy="9144"/>
          </a:xfrm>
          <a:prstGeom prst="rect">
            <a:avLst/>
          </a:prstGeom>
          <a:solidFill>
            <a:srgbClr val="0B7A75"/>
          </a:solidFill>
          <a:ln w="12700">
            <a:solidFill>
              <a:srgbClr val="0B7A7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3520440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4B8A6"/>
                </a:solidFill>
              </a:rPr>
              <a:t>SOM target: €12M/anno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297680" y="1920240"/>
            <a:ext cx="3520440" cy="2377440"/>
          </a:xfrm>
          <a:prstGeom prst="rect">
            <a:avLst/>
          </a:prstGeom>
          <a:solidFill>
            <a:srgbClr val="0A2A28"/>
          </a:solidFill>
          <a:ln w="12700">
            <a:solidFill>
              <a:srgbClr val="0B7A7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297680" y="2057400"/>
            <a:ext cx="3520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4B8A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45K+</a:t>
            </a:r>
            <a:endParaRPr lang="en-US" sz="4000" dirty="0"/>
          </a:p>
        </p:txBody>
      </p:sp>
      <p:sp>
        <p:nvSpPr>
          <p:cNvPr id="11" name="Text 9"/>
          <p:cNvSpPr/>
          <p:nvPr/>
        </p:nvSpPr>
        <p:spPr>
          <a:xfrm>
            <a:off x="4297680" y="2880360"/>
            <a:ext cx="3520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8CB3CC"/>
                </a:solidFill>
              </a:rPr>
              <a:t>Attività delivery</a:t>
            </a:r>
            <a:endParaRPr lang="en-US" sz="12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8CB3CC"/>
                </a:solidFill>
              </a:rPr>
              <a:t>Napoli + Caserta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572000" y="3474720"/>
            <a:ext cx="2971800" cy="9144"/>
          </a:xfrm>
          <a:prstGeom prst="rect">
            <a:avLst/>
          </a:prstGeom>
          <a:solidFill>
            <a:srgbClr val="0B7A75"/>
          </a:solidFill>
          <a:ln w="12700">
            <a:solidFill>
              <a:srgbClr val="0B7A7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297680" y="3520440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4B8A6"/>
                </a:solidFill>
              </a:rPr>
              <a:t>Solo 3-5% usa software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8138160" y="1920240"/>
            <a:ext cx="3520440" cy="2377440"/>
          </a:xfrm>
          <a:prstGeom prst="rect">
            <a:avLst/>
          </a:prstGeom>
          <a:solidFill>
            <a:srgbClr val="0A2A28"/>
          </a:solidFill>
          <a:ln w="12700">
            <a:solidFill>
              <a:srgbClr val="0B7A7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138160" y="2057400"/>
            <a:ext cx="3520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4B8A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€310</a:t>
            </a:r>
            <a:endParaRPr lang="en-US" sz="4000" dirty="0"/>
          </a:p>
        </p:txBody>
      </p:sp>
      <p:sp>
        <p:nvSpPr>
          <p:cNvPr id="16" name="Text 14"/>
          <p:cNvSpPr/>
          <p:nvPr/>
        </p:nvSpPr>
        <p:spPr>
          <a:xfrm>
            <a:off x="8138160" y="2880360"/>
            <a:ext cx="3520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8CB3CC"/>
                </a:solidFill>
              </a:rPr>
              <a:t>Revenue media</a:t>
            </a:r>
            <a:endParaRPr lang="en-US" sz="12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8CB3CC"/>
                </a:solidFill>
              </a:rPr>
              <a:t>per dealer/mese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8412480" y="3474720"/>
            <a:ext cx="2971800" cy="9144"/>
          </a:xfrm>
          <a:prstGeom prst="rect">
            <a:avLst/>
          </a:prstGeom>
          <a:solidFill>
            <a:srgbClr val="0B7A75"/>
          </a:solidFill>
          <a:ln w="12700">
            <a:solidFill>
              <a:srgbClr val="0B7A7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138160" y="3520440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4B8A6"/>
                </a:solidFill>
              </a:rPr>
              <a:t>LTV: €7.440 (24 mesi)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" y="4572000"/>
            <a:ext cx="5577840" cy="1234440"/>
          </a:xfrm>
          <a:prstGeom prst="rect">
            <a:avLst/>
          </a:prstGeom>
          <a:solidFill>
            <a:srgbClr val="0F2535"/>
          </a:solidFill>
          <a:ln w="12700">
            <a:solidFill>
              <a:srgbClr val="1A3A5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4663440"/>
            <a:ext cx="5212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🏆  Risparmio vs Alfonsino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640080" y="4956048"/>
            <a:ext cx="5212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CB3CC"/>
                </a:solidFill>
              </a:rPr>
              <a:t>Un dealer Dloop risparmia +€17.790/anno rispetto ad Alfonsino (marketplace 25-30%). Dloop è puro SaaS — zero commissioni sugli ordini.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6309360" y="4572000"/>
            <a:ext cx="5349240" cy="1234440"/>
          </a:xfrm>
          <a:prstGeom prst="rect">
            <a:avLst/>
          </a:prstGeom>
          <a:solidFill>
            <a:srgbClr val="0F2535"/>
          </a:solidFill>
          <a:ln w="12700">
            <a:solidFill>
              <a:srgbClr val="1A3A5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92240" y="4663440"/>
            <a:ext cx="4937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🌍  Espansione geografica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6492240" y="4956048"/>
            <a:ext cx="4937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CB3CC"/>
                </a:solidFill>
              </a:rPr>
              <a:t>Campania → Sud Italia M12 → Nazionale M18. Ogni provincia è un mercato autonomo replicabile.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10789920" y="630936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334455"/>
                </a:solidFill>
              </a:rPr>
              <a:t>04 / 12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D1F3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14B8A6"/>
                </a:solidFill>
              </a:rPr>
              <a:t>ANALISI COMPETITIVA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640080"/>
            <a:ext cx="8229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Nessun competitor ha</a:t>
            </a:r>
            <a:endParaRPr lang="en-US" sz="34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il posizionamento di Dloop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457200" y="1828800"/>
            <a:ext cx="2011680" cy="411480"/>
          </a:xfrm>
          <a:prstGeom prst="rect">
            <a:avLst/>
          </a:prstGeom>
          <a:solidFill>
            <a:srgbClr val="0A2A4A"/>
          </a:solidFill>
          <a:ln w="12700">
            <a:solidFill>
              <a:srgbClr val="1A3A6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82880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900" b="1" dirty="0">
                <a:solidFill>
                  <a:srgbClr val="14B8A6"/>
                </a:solidFill>
              </a:rPr>
              <a:t>Player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2468880" y="1828800"/>
            <a:ext cx="1554480" cy="411480"/>
          </a:xfrm>
          <a:prstGeom prst="rect">
            <a:avLst/>
          </a:prstGeom>
          <a:solidFill>
            <a:srgbClr val="0A2A4A"/>
          </a:solidFill>
          <a:ln w="12700">
            <a:solidFill>
              <a:srgbClr val="1A3A6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468880" y="182880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900" b="1" dirty="0">
                <a:solidFill>
                  <a:srgbClr val="14B8A6"/>
                </a:solidFill>
              </a:rPr>
              <a:t>Pricing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4023360" y="1828800"/>
            <a:ext cx="1234440" cy="411480"/>
          </a:xfrm>
          <a:prstGeom prst="rect">
            <a:avLst/>
          </a:prstGeom>
          <a:solidFill>
            <a:srgbClr val="0A2A4A"/>
          </a:solidFill>
          <a:ln w="12700">
            <a:solidFill>
              <a:srgbClr val="1A3A6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023360" y="1828800"/>
            <a:ext cx="1234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900" b="1" dirty="0">
                <a:solidFill>
                  <a:srgbClr val="14B8A6"/>
                </a:solidFill>
              </a:rPr>
              <a:t>WhatsApp</a:t>
            </a:r>
            <a:endParaRPr lang="en-US" sz="9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900" b="1" dirty="0">
                <a:solidFill>
                  <a:srgbClr val="14B8A6"/>
                </a:solidFill>
              </a:rPr>
              <a:t>nativo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257800" y="1828800"/>
            <a:ext cx="1234440" cy="411480"/>
          </a:xfrm>
          <a:prstGeom prst="rect">
            <a:avLst/>
          </a:prstGeom>
          <a:solidFill>
            <a:srgbClr val="0A2A4A"/>
          </a:solidFill>
          <a:ln w="12700">
            <a:solidFill>
              <a:srgbClr val="1A3A6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257800" y="1828800"/>
            <a:ext cx="1234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900" b="1" dirty="0">
                <a:solidFill>
                  <a:srgbClr val="14B8A6"/>
                </a:solidFill>
              </a:rPr>
              <a:t>Modello</a:t>
            </a:r>
            <a:endParaRPr lang="en-US" sz="9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900" b="1" dirty="0">
                <a:solidFill>
                  <a:srgbClr val="14B8A6"/>
                </a:solidFill>
              </a:rPr>
              <a:t>P.IVA IT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492240" y="1828800"/>
            <a:ext cx="1097280" cy="411480"/>
          </a:xfrm>
          <a:prstGeom prst="rect">
            <a:avLst/>
          </a:prstGeom>
          <a:solidFill>
            <a:srgbClr val="0A2A4A"/>
          </a:solidFill>
          <a:ln w="12700">
            <a:solidFill>
              <a:srgbClr val="1A3A6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92240" y="182880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900" b="1" dirty="0">
                <a:solidFill>
                  <a:srgbClr val="14B8A6"/>
                </a:solidFill>
              </a:rPr>
              <a:t>In</a:t>
            </a:r>
            <a:endParaRPr lang="en-US" sz="9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900" b="1" dirty="0">
                <a:solidFill>
                  <a:srgbClr val="14B8A6"/>
                </a:solidFill>
              </a:rPr>
              <a:t>Italiano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7589520" y="1828800"/>
            <a:ext cx="1097280" cy="411480"/>
          </a:xfrm>
          <a:prstGeom prst="rect">
            <a:avLst/>
          </a:prstGeom>
          <a:solidFill>
            <a:srgbClr val="0A2A4A"/>
          </a:solidFill>
          <a:ln w="12700">
            <a:solidFill>
              <a:srgbClr val="1A3A6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589520" y="182880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900" b="1" dirty="0">
                <a:solidFill>
                  <a:srgbClr val="14B8A6"/>
                </a:solidFill>
              </a:rPr>
              <a:t>PMI</a:t>
            </a:r>
            <a:endParaRPr lang="en-US" sz="9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900" b="1" dirty="0">
                <a:solidFill>
                  <a:srgbClr val="14B8A6"/>
                </a:solidFill>
              </a:rPr>
              <a:t>ready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8686800" y="1828800"/>
            <a:ext cx="1097280" cy="411480"/>
          </a:xfrm>
          <a:prstGeom prst="rect">
            <a:avLst/>
          </a:prstGeom>
          <a:solidFill>
            <a:srgbClr val="0A2A4A"/>
          </a:solidFill>
          <a:ln w="12700">
            <a:solidFill>
              <a:srgbClr val="1A3A6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686800" y="182880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900" b="1" dirty="0">
                <a:solidFill>
                  <a:srgbClr val="14B8A6"/>
                </a:solidFill>
              </a:rPr>
              <a:t>SaaS</a:t>
            </a:r>
            <a:endParaRPr lang="en-US" sz="9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900" b="1" dirty="0">
                <a:solidFill>
                  <a:srgbClr val="14B8A6"/>
                </a:solidFill>
              </a:rPr>
              <a:t>puro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57200" y="2240280"/>
            <a:ext cx="2011680" cy="475488"/>
          </a:xfrm>
          <a:prstGeom prst="rect">
            <a:avLst/>
          </a:prstGeom>
          <a:solidFill>
            <a:srgbClr val="0A2A28"/>
          </a:solidFill>
          <a:ln w="12700">
            <a:solidFill>
              <a:srgbClr val="0B7A7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57200" y="2240280"/>
            <a:ext cx="54864" cy="475488"/>
          </a:xfrm>
          <a:prstGeom prst="rect">
            <a:avLst/>
          </a:prstGeom>
          <a:solidFill>
            <a:srgbClr val="14B8A6"/>
          </a:solidFill>
          <a:ln w="12700">
            <a:solidFill>
              <a:srgbClr val="14B8A6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57200" y="2240280"/>
            <a:ext cx="2011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🟢 Dloop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2468880" y="2240280"/>
            <a:ext cx="1554480" cy="475488"/>
          </a:xfrm>
          <a:prstGeom prst="rect">
            <a:avLst/>
          </a:prstGeom>
          <a:solidFill>
            <a:srgbClr val="0A2A28"/>
          </a:solidFill>
          <a:ln w="12700">
            <a:solidFill>
              <a:srgbClr val="0B7A75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468880" y="2240280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€39–€499/mese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4023360" y="2240280"/>
            <a:ext cx="1234440" cy="475488"/>
          </a:xfrm>
          <a:prstGeom prst="rect">
            <a:avLst/>
          </a:prstGeom>
          <a:solidFill>
            <a:srgbClr val="0A2A28"/>
          </a:solidFill>
          <a:ln w="12700">
            <a:solidFill>
              <a:srgbClr val="0B7A75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023360" y="2240280"/>
            <a:ext cx="1234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2C55E"/>
                </a:solidFill>
              </a:rPr>
              <a:t>✓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5257800" y="2240280"/>
            <a:ext cx="1234440" cy="475488"/>
          </a:xfrm>
          <a:prstGeom prst="rect">
            <a:avLst/>
          </a:prstGeom>
          <a:solidFill>
            <a:srgbClr val="0A2A28"/>
          </a:solidFill>
          <a:ln w="12700">
            <a:solidFill>
              <a:srgbClr val="0B7A75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257800" y="2240280"/>
            <a:ext cx="1234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2C55E"/>
                </a:solidFill>
              </a:rPr>
              <a:t>✓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6492240" y="2240280"/>
            <a:ext cx="1097280" cy="475488"/>
          </a:xfrm>
          <a:prstGeom prst="rect">
            <a:avLst/>
          </a:prstGeom>
          <a:solidFill>
            <a:srgbClr val="0A2A28"/>
          </a:solidFill>
          <a:ln w="12700">
            <a:solidFill>
              <a:srgbClr val="0B7A75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492240" y="2240280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2C55E"/>
                </a:solidFill>
              </a:rPr>
              <a:t>✓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7589520" y="2240280"/>
            <a:ext cx="1097280" cy="475488"/>
          </a:xfrm>
          <a:prstGeom prst="rect">
            <a:avLst/>
          </a:prstGeom>
          <a:solidFill>
            <a:srgbClr val="0A2A28"/>
          </a:solidFill>
          <a:ln w="12700">
            <a:solidFill>
              <a:srgbClr val="0B7A75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589520" y="2240280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2C55E"/>
                </a:solidFill>
              </a:rPr>
              <a:t>✓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8686800" y="2240280"/>
            <a:ext cx="1097280" cy="475488"/>
          </a:xfrm>
          <a:prstGeom prst="rect">
            <a:avLst/>
          </a:prstGeom>
          <a:solidFill>
            <a:srgbClr val="0A2A28"/>
          </a:solidFill>
          <a:ln w="12700">
            <a:solidFill>
              <a:srgbClr val="0B7A75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686800" y="2240280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2C55E"/>
                </a:solidFill>
              </a:rPr>
              <a:t>✓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457200" y="2715768"/>
            <a:ext cx="11155680" cy="256032"/>
          </a:xfrm>
          <a:prstGeom prst="rect">
            <a:avLst/>
          </a:prstGeom>
          <a:solidFill>
            <a:srgbClr val="0A1520"/>
          </a:solidFill>
          <a:ln w="12700">
            <a:solidFill>
              <a:srgbClr val="1A3A5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48640" y="2715768"/>
            <a:ext cx="10972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4A8A9A"/>
                </a:solidFill>
              </a:rPr>
              <a:t>— SaaS B2B —</a:t>
            </a:r>
            <a:endParaRPr lang="en-US" sz="800" dirty="0"/>
          </a:p>
        </p:txBody>
      </p:sp>
      <p:sp>
        <p:nvSpPr>
          <p:cNvPr id="35" name="Shape 33"/>
          <p:cNvSpPr/>
          <p:nvPr/>
        </p:nvSpPr>
        <p:spPr>
          <a:xfrm>
            <a:off x="457200" y="2971800"/>
            <a:ext cx="2011680" cy="475488"/>
          </a:xfrm>
          <a:prstGeom prst="rect">
            <a:avLst/>
          </a:prstGeom>
          <a:solidFill>
            <a:srgbClr val="0F1E30"/>
          </a:solidFill>
          <a:ln w="12700">
            <a:solidFill>
              <a:srgbClr val="1A3A5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57200" y="2971800"/>
            <a:ext cx="2011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CB3CC"/>
                </a:solidFill>
              </a:rPr>
              <a:t>Onfleet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2468880" y="2971800"/>
            <a:ext cx="1554480" cy="475488"/>
          </a:xfrm>
          <a:prstGeom prst="rect">
            <a:avLst/>
          </a:prstGeom>
          <a:solidFill>
            <a:srgbClr val="0F1E30"/>
          </a:solidFill>
          <a:ln w="12700">
            <a:solidFill>
              <a:srgbClr val="1A3A5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468880" y="2971800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CB3CC"/>
                </a:solidFill>
              </a:rPr>
              <a:t>$500+/mese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4023360" y="2971800"/>
            <a:ext cx="1234440" cy="475488"/>
          </a:xfrm>
          <a:prstGeom prst="rect">
            <a:avLst/>
          </a:prstGeom>
          <a:solidFill>
            <a:srgbClr val="0F1E30"/>
          </a:solidFill>
          <a:ln w="12700">
            <a:solidFill>
              <a:srgbClr val="1A3A5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023360" y="2971800"/>
            <a:ext cx="1234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4455"/>
                </a:solidFill>
              </a:rPr>
              <a:t>✗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5257800" y="2971800"/>
            <a:ext cx="1234440" cy="475488"/>
          </a:xfrm>
          <a:prstGeom prst="rect">
            <a:avLst/>
          </a:prstGeom>
          <a:solidFill>
            <a:srgbClr val="0F1E30"/>
          </a:solidFill>
          <a:ln w="12700">
            <a:solidFill>
              <a:srgbClr val="1A3A5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257800" y="2971800"/>
            <a:ext cx="1234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4455"/>
                </a:solidFill>
              </a:rPr>
              <a:t>✗</a:t>
            </a:r>
            <a:endParaRPr lang="en-US" sz="1200" dirty="0"/>
          </a:p>
        </p:txBody>
      </p:sp>
      <p:sp>
        <p:nvSpPr>
          <p:cNvPr id="43" name="Shape 41"/>
          <p:cNvSpPr/>
          <p:nvPr/>
        </p:nvSpPr>
        <p:spPr>
          <a:xfrm>
            <a:off x="6492240" y="2971800"/>
            <a:ext cx="1097280" cy="475488"/>
          </a:xfrm>
          <a:prstGeom prst="rect">
            <a:avLst/>
          </a:prstGeom>
          <a:solidFill>
            <a:srgbClr val="0F1E30"/>
          </a:solidFill>
          <a:ln w="12700">
            <a:solidFill>
              <a:srgbClr val="1A3A5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492240" y="2971800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4455"/>
                </a:solidFill>
              </a:rPr>
              <a:t>✗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7589520" y="2971800"/>
            <a:ext cx="1097280" cy="475488"/>
          </a:xfrm>
          <a:prstGeom prst="rect">
            <a:avLst/>
          </a:prstGeom>
          <a:solidFill>
            <a:srgbClr val="0F1E30"/>
          </a:solidFill>
          <a:ln w="12700">
            <a:solidFill>
              <a:srgbClr val="1A3A5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7589520" y="2971800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4455"/>
                </a:solidFill>
              </a:rPr>
              <a:t>✗</a:t>
            </a:r>
            <a:endParaRPr lang="en-US" sz="1200" dirty="0"/>
          </a:p>
        </p:txBody>
      </p:sp>
      <p:sp>
        <p:nvSpPr>
          <p:cNvPr id="47" name="Shape 45"/>
          <p:cNvSpPr/>
          <p:nvPr/>
        </p:nvSpPr>
        <p:spPr>
          <a:xfrm>
            <a:off x="8686800" y="2971800"/>
            <a:ext cx="1097280" cy="475488"/>
          </a:xfrm>
          <a:prstGeom prst="rect">
            <a:avLst/>
          </a:prstGeom>
          <a:solidFill>
            <a:srgbClr val="0F1E30"/>
          </a:solidFill>
          <a:ln w="12700">
            <a:solidFill>
              <a:srgbClr val="1A3A50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8686800" y="2971800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2C55E"/>
                </a:solidFill>
              </a:rPr>
              <a:t>✓</a:t>
            </a:r>
            <a:endParaRPr lang="en-US" sz="1200" dirty="0"/>
          </a:p>
        </p:txBody>
      </p:sp>
      <p:sp>
        <p:nvSpPr>
          <p:cNvPr id="49" name="Shape 47"/>
          <p:cNvSpPr/>
          <p:nvPr/>
        </p:nvSpPr>
        <p:spPr>
          <a:xfrm>
            <a:off x="457200" y="3447288"/>
            <a:ext cx="2011680" cy="475488"/>
          </a:xfrm>
          <a:prstGeom prst="rect">
            <a:avLst/>
          </a:prstGeom>
          <a:solidFill>
            <a:srgbClr val="0A1929"/>
          </a:solidFill>
          <a:ln w="12700">
            <a:solidFill>
              <a:srgbClr val="1A3A50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57200" y="3447288"/>
            <a:ext cx="2011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CB3CC"/>
                </a:solidFill>
              </a:rPr>
              <a:t>Tookan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2468880" y="3447288"/>
            <a:ext cx="1554480" cy="475488"/>
          </a:xfrm>
          <a:prstGeom prst="rect">
            <a:avLst/>
          </a:prstGeom>
          <a:solidFill>
            <a:srgbClr val="0A1929"/>
          </a:solidFill>
          <a:ln w="12700">
            <a:solidFill>
              <a:srgbClr val="1A3A50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2468880" y="3447288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CB3CC"/>
                </a:solidFill>
              </a:rPr>
              <a:t>$99–$299/mese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4023360" y="3447288"/>
            <a:ext cx="1234440" cy="475488"/>
          </a:xfrm>
          <a:prstGeom prst="rect">
            <a:avLst/>
          </a:prstGeom>
          <a:solidFill>
            <a:srgbClr val="0A1929"/>
          </a:solidFill>
          <a:ln w="12700">
            <a:solidFill>
              <a:srgbClr val="1A3A50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023360" y="3447288"/>
            <a:ext cx="1234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4455"/>
                </a:solidFill>
              </a:rPr>
              <a:t>✗</a:t>
            </a:r>
            <a:endParaRPr lang="en-US" sz="1200" dirty="0"/>
          </a:p>
        </p:txBody>
      </p:sp>
      <p:sp>
        <p:nvSpPr>
          <p:cNvPr id="55" name="Shape 53"/>
          <p:cNvSpPr/>
          <p:nvPr/>
        </p:nvSpPr>
        <p:spPr>
          <a:xfrm>
            <a:off x="5257800" y="3447288"/>
            <a:ext cx="1234440" cy="475488"/>
          </a:xfrm>
          <a:prstGeom prst="rect">
            <a:avLst/>
          </a:prstGeom>
          <a:solidFill>
            <a:srgbClr val="0A1929"/>
          </a:solidFill>
          <a:ln w="12700">
            <a:solidFill>
              <a:srgbClr val="1A3A50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5257800" y="3447288"/>
            <a:ext cx="1234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4455"/>
                </a:solidFill>
              </a:rPr>
              <a:t>✗</a:t>
            </a:r>
            <a:endParaRPr lang="en-US" sz="1200" dirty="0"/>
          </a:p>
        </p:txBody>
      </p:sp>
      <p:sp>
        <p:nvSpPr>
          <p:cNvPr id="57" name="Shape 55"/>
          <p:cNvSpPr/>
          <p:nvPr/>
        </p:nvSpPr>
        <p:spPr>
          <a:xfrm>
            <a:off x="6492240" y="3447288"/>
            <a:ext cx="1097280" cy="475488"/>
          </a:xfrm>
          <a:prstGeom prst="rect">
            <a:avLst/>
          </a:prstGeom>
          <a:solidFill>
            <a:srgbClr val="0A1929"/>
          </a:solidFill>
          <a:ln w="12700">
            <a:solidFill>
              <a:srgbClr val="1A3A50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6492240" y="3447288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4455"/>
                </a:solidFill>
              </a:rPr>
              <a:t>✗</a:t>
            </a:r>
            <a:endParaRPr lang="en-US" sz="1200" dirty="0"/>
          </a:p>
        </p:txBody>
      </p:sp>
      <p:sp>
        <p:nvSpPr>
          <p:cNvPr id="59" name="Shape 57"/>
          <p:cNvSpPr/>
          <p:nvPr/>
        </p:nvSpPr>
        <p:spPr>
          <a:xfrm>
            <a:off x="7589520" y="3447288"/>
            <a:ext cx="1097280" cy="475488"/>
          </a:xfrm>
          <a:prstGeom prst="rect">
            <a:avLst/>
          </a:prstGeom>
          <a:solidFill>
            <a:srgbClr val="0A1929"/>
          </a:solidFill>
          <a:ln w="12700">
            <a:solidFill>
              <a:srgbClr val="1A3A50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7589520" y="3447288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59E0B"/>
                </a:solidFill>
              </a:rPr>
              <a:t>~</a:t>
            </a:r>
            <a:endParaRPr lang="en-US" sz="1200" dirty="0"/>
          </a:p>
        </p:txBody>
      </p:sp>
      <p:sp>
        <p:nvSpPr>
          <p:cNvPr id="61" name="Shape 59"/>
          <p:cNvSpPr/>
          <p:nvPr/>
        </p:nvSpPr>
        <p:spPr>
          <a:xfrm>
            <a:off x="8686800" y="3447288"/>
            <a:ext cx="1097280" cy="475488"/>
          </a:xfrm>
          <a:prstGeom prst="rect">
            <a:avLst/>
          </a:prstGeom>
          <a:solidFill>
            <a:srgbClr val="0A1929"/>
          </a:solidFill>
          <a:ln w="12700">
            <a:solidFill>
              <a:srgbClr val="1A3A50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8686800" y="3447288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2C55E"/>
                </a:solidFill>
              </a:rPr>
              <a:t>✓</a:t>
            </a:r>
            <a:endParaRPr lang="en-US" sz="1200" dirty="0"/>
          </a:p>
        </p:txBody>
      </p:sp>
      <p:sp>
        <p:nvSpPr>
          <p:cNvPr id="63" name="Shape 61"/>
          <p:cNvSpPr/>
          <p:nvPr/>
        </p:nvSpPr>
        <p:spPr>
          <a:xfrm>
            <a:off x="457200" y="3922776"/>
            <a:ext cx="2011680" cy="475488"/>
          </a:xfrm>
          <a:prstGeom prst="rect">
            <a:avLst/>
          </a:prstGeom>
          <a:solidFill>
            <a:srgbClr val="0F1E30"/>
          </a:solidFill>
          <a:ln w="12700">
            <a:solidFill>
              <a:srgbClr val="1A3A50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457200" y="3922776"/>
            <a:ext cx="2011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CB3CC"/>
                </a:solidFill>
              </a:rPr>
              <a:t>LogiNext</a:t>
            </a:r>
            <a:endParaRPr lang="en-US" sz="1000" dirty="0"/>
          </a:p>
        </p:txBody>
      </p:sp>
      <p:sp>
        <p:nvSpPr>
          <p:cNvPr id="65" name="Shape 63"/>
          <p:cNvSpPr/>
          <p:nvPr/>
        </p:nvSpPr>
        <p:spPr>
          <a:xfrm>
            <a:off x="2468880" y="3922776"/>
            <a:ext cx="1554480" cy="475488"/>
          </a:xfrm>
          <a:prstGeom prst="rect">
            <a:avLst/>
          </a:prstGeom>
          <a:solidFill>
            <a:srgbClr val="0F1E30"/>
          </a:solidFill>
          <a:ln w="12700">
            <a:solidFill>
              <a:srgbClr val="1A3A50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2468880" y="3922776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CB3CC"/>
                </a:solidFill>
              </a:rPr>
              <a:t>Enterprise</a:t>
            </a:r>
            <a:endParaRPr lang="en-US" sz="1200" dirty="0"/>
          </a:p>
        </p:txBody>
      </p:sp>
      <p:sp>
        <p:nvSpPr>
          <p:cNvPr id="67" name="Shape 65"/>
          <p:cNvSpPr/>
          <p:nvPr/>
        </p:nvSpPr>
        <p:spPr>
          <a:xfrm>
            <a:off x="4023360" y="3922776"/>
            <a:ext cx="1234440" cy="475488"/>
          </a:xfrm>
          <a:prstGeom prst="rect">
            <a:avLst/>
          </a:prstGeom>
          <a:solidFill>
            <a:srgbClr val="0F1E30"/>
          </a:solidFill>
          <a:ln w="12700">
            <a:solidFill>
              <a:srgbClr val="1A3A50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4023360" y="3922776"/>
            <a:ext cx="1234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4455"/>
                </a:solidFill>
              </a:rPr>
              <a:t>✗</a:t>
            </a:r>
            <a:endParaRPr lang="en-US" sz="1200" dirty="0"/>
          </a:p>
        </p:txBody>
      </p:sp>
      <p:sp>
        <p:nvSpPr>
          <p:cNvPr id="69" name="Shape 67"/>
          <p:cNvSpPr/>
          <p:nvPr/>
        </p:nvSpPr>
        <p:spPr>
          <a:xfrm>
            <a:off x="5257800" y="3922776"/>
            <a:ext cx="1234440" cy="475488"/>
          </a:xfrm>
          <a:prstGeom prst="rect">
            <a:avLst/>
          </a:prstGeom>
          <a:solidFill>
            <a:srgbClr val="0F1E30"/>
          </a:solidFill>
          <a:ln w="12700">
            <a:solidFill>
              <a:srgbClr val="1A3A50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5257800" y="3922776"/>
            <a:ext cx="1234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4455"/>
                </a:solidFill>
              </a:rPr>
              <a:t>✗</a:t>
            </a:r>
            <a:endParaRPr lang="en-US" sz="1200" dirty="0"/>
          </a:p>
        </p:txBody>
      </p:sp>
      <p:sp>
        <p:nvSpPr>
          <p:cNvPr id="71" name="Shape 69"/>
          <p:cNvSpPr/>
          <p:nvPr/>
        </p:nvSpPr>
        <p:spPr>
          <a:xfrm>
            <a:off x="6492240" y="3922776"/>
            <a:ext cx="1097280" cy="475488"/>
          </a:xfrm>
          <a:prstGeom prst="rect">
            <a:avLst/>
          </a:prstGeom>
          <a:solidFill>
            <a:srgbClr val="0F1E30"/>
          </a:solidFill>
          <a:ln w="12700">
            <a:solidFill>
              <a:srgbClr val="1A3A50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6492240" y="3922776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4455"/>
                </a:solidFill>
              </a:rPr>
              <a:t>✗</a:t>
            </a:r>
            <a:endParaRPr lang="en-US" sz="1200" dirty="0"/>
          </a:p>
        </p:txBody>
      </p:sp>
      <p:sp>
        <p:nvSpPr>
          <p:cNvPr id="73" name="Shape 71"/>
          <p:cNvSpPr/>
          <p:nvPr/>
        </p:nvSpPr>
        <p:spPr>
          <a:xfrm>
            <a:off x="7589520" y="3922776"/>
            <a:ext cx="1097280" cy="475488"/>
          </a:xfrm>
          <a:prstGeom prst="rect">
            <a:avLst/>
          </a:prstGeom>
          <a:solidFill>
            <a:srgbClr val="0F1E30"/>
          </a:solidFill>
          <a:ln w="12700">
            <a:solidFill>
              <a:srgbClr val="1A3A50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7589520" y="3922776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4455"/>
                </a:solidFill>
              </a:rPr>
              <a:t>✗</a:t>
            </a:r>
            <a:endParaRPr lang="en-US" sz="1200" dirty="0"/>
          </a:p>
        </p:txBody>
      </p:sp>
      <p:sp>
        <p:nvSpPr>
          <p:cNvPr id="75" name="Shape 73"/>
          <p:cNvSpPr/>
          <p:nvPr/>
        </p:nvSpPr>
        <p:spPr>
          <a:xfrm>
            <a:off x="8686800" y="3922776"/>
            <a:ext cx="1097280" cy="475488"/>
          </a:xfrm>
          <a:prstGeom prst="rect">
            <a:avLst/>
          </a:prstGeom>
          <a:solidFill>
            <a:srgbClr val="0F1E30"/>
          </a:solidFill>
          <a:ln w="12700">
            <a:solidFill>
              <a:srgbClr val="1A3A50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8686800" y="3922776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2C55E"/>
                </a:solidFill>
              </a:rPr>
              <a:t>✓</a:t>
            </a:r>
            <a:endParaRPr lang="en-US" sz="1200" dirty="0"/>
          </a:p>
        </p:txBody>
      </p:sp>
      <p:sp>
        <p:nvSpPr>
          <p:cNvPr id="77" name="Shape 75"/>
          <p:cNvSpPr/>
          <p:nvPr/>
        </p:nvSpPr>
        <p:spPr>
          <a:xfrm>
            <a:off x="457200" y="4398264"/>
            <a:ext cx="11155680" cy="256032"/>
          </a:xfrm>
          <a:prstGeom prst="rect">
            <a:avLst/>
          </a:prstGeom>
          <a:solidFill>
            <a:srgbClr val="0A1520"/>
          </a:solidFill>
          <a:ln w="12700">
            <a:solidFill>
              <a:srgbClr val="1A3A50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548640" y="4398264"/>
            <a:ext cx="10972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4A8A9A"/>
                </a:solidFill>
              </a:rPr>
              <a:t>— Marketplace —</a:t>
            </a:r>
            <a:endParaRPr lang="en-US" sz="800" dirty="0"/>
          </a:p>
        </p:txBody>
      </p:sp>
      <p:sp>
        <p:nvSpPr>
          <p:cNvPr id="79" name="Shape 77"/>
          <p:cNvSpPr/>
          <p:nvPr/>
        </p:nvSpPr>
        <p:spPr>
          <a:xfrm>
            <a:off x="457200" y="4654296"/>
            <a:ext cx="2011680" cy="475488"/>
          </a:xfrm>
          <a:prstGeom prst="rect">
            <a:avLst/>
          </a:prstGeom>
          <a:solidFill>
            <a:srgbClr val="0F1E30"/>
          </a:solidFill>
          <a:ln w="12700">
            <a:solidFill>
              <a:srgbClr val="1A3A50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457200" y="4654296"/>
            <a:ext cx="2011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CB3CC"/>
                </a:solidFill>
              </a:rPr>
              <a:t>Glovo</a:t>
            </a:r>
            <a:endParaRPr lang="en-US" sz="1000" dirty="0"/>
          </a:p>
        </p:txBody>
      </p:sp>
      <p:sp>
        <p:nvSpPr>
          <p:cNvPr id="81" name="Shape 79"/>
          <p:cNvSpPr/>
          <p:nvPr/>
        </p:nvSpPr>
        <p:spPr>
          <a:xfrm>
            <a:off x="2468880" y="4654296"/>
            <a:ext cx="1554480" cy="475488"/>
          </a:xfrm>
          <a:prstGeom prst="rect">
            <a:avLst/>
          </a:prstGeom>
          <a:solidFill>
            <a:srgbClr val="0F1E30"/>
          </a:solidFill>
          <a:ln w="12700">
            <a:solidFill>
              <a:srgbClr val="1A3A50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2468880" y="4654296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CB3CC"/>
                </a:solidFill>
              </a:rPr>
              <a:t>25-30% comm.</a:t>
            </a:r>
            <a:endParaRPr lang="en-US" sz="1200" dirty="0"/>
          </a:p>
        </p:txBody>
      </p:sp>
      <p:sp>
        <p:nvSpPr>
          <p:cNvPr id="83" name="Shape 81"/>
          <p:cNvSpPr/>
          <p:nvPr/>
        </p:nvSpPr>
        <p:spPr>
          <a:xfrm>
            <a:off x="4023360" y="4654296"/>
            <a:ext cx="1234440" cy="475488"/>
          </a:xfrm>
          <a:prstGeom prst="rect">
            <a:avLst/>
          </a:prstGeom>
          <a:solidFill>
            <a:srgbClr val="0F1E30"/>
          </a:solidFill>
          <a:ln w="12700">
            <a:solidFill>
              <a:srgbClr val="1A3A50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4023360" y="4654296"/>
            <a:ext cx="1234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59E0B"/>
                </a:solidFill>
              </a:rPr>
              <a:t>~</a:t>
            </a:r>
            <a:endParaRPr lang="en-US" sz="1200" dirty="0"/>
          </a:p>
        </p:txBody>
      </p:sp>
      <p:sp>
        <p:nvSpPr>
          <p:cNvPr id="85" name="Shape 83"/>
          <p:cNvSpPr/>
          <p:nvPr/>
        </p:nvSpPr>
        <p:spPr>
          <a:xfrm>
            <a:off x="5257800" y="4654296"/>
            <a:ext cx="1234440" cy="475488"/>
          </a:xfrm>
          <a:prstGeom prst="rect">
            <a:avLst/>
          </a:prstGeom>
          <a:solidFill>
            <a:srgbClr val="0F1E30"/>
          </a:solidFill>
          <a:ln w="12700">
            <a:solidFill>
              <a:srgbClr val="1A3A50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5257800" y="4654296"/>
            <a:ext cx="1234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4455"/>
                </a:solidFill>
              </a:rPr>
              <a:t>✗</a:t>
            </a:r>
            <a:endParaRPr lang="en-US" sz="1200" dirty="0"/>
          </a:p>
        </p:txBody>
      </p:sp>
      <p:sp>
        <p:nvSpPr>
          <p:cNvPr id="87" name="Shape 85"/>
          <p:cNvSpPr/>
          <p:nvPr/>
        </p:nvSpPr>
        <p:spPr>
          <a:xfrm>
            <a:off x="6492240" y="4654296"/>
            <a:ext cx="1097280" cy="475488"/>
          </a:xfrm>
          <a:prstGeom prst="rect">
            <a:avLst/>
          </a:prstGeom>
          <a:solidFill>
            <a:srgbClr val="0F1E30"/>
          </a:solidFill>
          <a:ln w="12700">
            <a:solidFill>
              <a:srgbClr val="1A3A50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6492240" y="4654296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2C55E"/>
                </a:solidFill>
              </a:rPr>
              <a:t>✓</a:t>
            </a:r>
            <a:endParaRPr lang="en-US" sz="1200" dirty="0"/>
          </a:p>
        </p:txBody>
      </p:sp>
      <p:sp>
        <p:nvSpPr>
          <p:cNvPr id="89" name="Shape 87"/>
          <p:cNvSpPr/>
          <p:nvPr/>
        </p:nvSpPr>
        <p:spPr>
          <a:xfrm>
            <a:off x="7589520" y="4654296"/>
            <a:ext cx="1097280" cy="475488"/>
          </a:xfrm>
          <a:prstGeom prst="rect">
            <a:avLst/>
          </a:prstGeom>
          <a:solidFill>
            <a:srgbClr val="0F1E30"/>
          </a:solidFill>
          <a:ln w="12700">
            <a:solidFill>
              <a:srgbClr val="1A3A50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7589520" y="4654296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59E0B"/>
                </a:solidFill>
              </a:rPr>
              <a:t>~</a:t>
            </a:r>
            <a:endParaRPr lang="en-US" sz="1200" dirty="0"/>
          </a:p>
        </p:txBody>
      </p:sp>
      <p:sp>
        <p:nvSpPr>
          <p:cNvPr id="91" name="Shape 89"/>
          <p:cNvSpPr/>
          <p:nvPr/>
        </p:nvSpPr>
        <p:spPr>
          <a:xfrm>
            <a:off x="8686800" y="4654296"/>
            <a:ext cx="1097280" cy="475488"/>
          </a:xfrm>
          <a:prstGeom prst="rect">
            <a:avLst/>
          </a:prstGeom>
          <a:solidFill>
            <a:srgbClr val="0F1E30"/>
          </a:solidFill>
          <a:ln w="12700">
            <a:solidFill>
              <a:srgbClr val="1A3A50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8686800" y="4654296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4455"/>
                </a:solidFill>
              </a:rPr>
              <a:t>✗</a:t>
            </a:r>
            <a:endParaRPr lang="en-US" sz="1200" dirty="0"/>
          </a:p>
        </p:txBody>
      </p:sp>
      <p:sp>
        <p:nvSpPr>
          <p:cNvPr id="93" name="Shape 91"/>
          <p:cNvSpPr/>
          <p:nvPr/>
        </p:nvSpPr>
        <p:spPr>
          <a:xfrm>
            <a:off x="457200" y="5129784"/>
            <a:ext cx="2011680" cy="475488"/>
          </a:xfrm>
          <a:prstGeom prst="rect">
            <a:avLst/>
          </a:prstGeom>
          <a:solidFill>
            <a:srgbClr val="0A1929"/>
          </a:solidFill>
          <a:ln w="12700">
            <a:solidFill>
              <a:srgbClr val="1A3A50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457200" y="5129784"/>
            <a:ext cx="2011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CB3CC"/>
                </a:solidFill>
              </a:rPr>
              <a:t>Deliveroo / Just Eat</a:t>
            </a:r>
            <a:endParaRPr lang="en-US" sz="1000" dirty="0"/>
          </a:p>
        </p:txBody>
      </p:sp>
      <p:sp>
        <p:nvSpPr>
          <p:cNvPr id="95" name="Shape 93"/>
          <p:cNvSpPr/>
          <p:nvPr/>
        </p:nvSpPr>
        <p:spPr>
          <a:xfrm>
            <a:off x="2468880" y="5129784"/>
            <a:ext cx="1554480" cy="475488"/>
          </a:xfrm>
          <a:prstGeom prst="rect">
            <a:avLst/>
          </a:prstGeom>
          <a:solidFill>
            <a:srgbClr val="0A1929"/>
          </a:solidFill>
          <a:ln w="12700">
            <a:solidFill>
              <a:srgbClr val="1A3A50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2468880" y="5129784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CB3CC"/>
                </a:solidFill>
              </a:rPr>
              <a:t>25-30% comm.</a:t>
            </a:r>
            <a:endParaRPr lang="en-US" sz="1200" dirty="0"/>
          </a:p>
        </p:txBody>
      </p:sp>
      <p:sp>
        <p:nvSpPr>
          <p:cNvPr id="97" name="Shape 95"/>
          <p:cNvSpPr/>
          <p:nvPr/>
        </p:nvSpPr>
        <p:spPr>
          <a:xfrm>
            <a:off x="4023360" y="5129784"/>
            <a:ext cx="1234440" cy="475488"/>
          </a:xfrm>
          <a:prstGeom prst="rect">
            <a:avLst/>
          </a:prstGeom>
          <a:solidFill>
            <a:srgbClr val="0A1929"/>
          </a:solidFill>
          <a:ln w="12700">
            <a:solidFill>
              <a:srgbClr val="1A3A50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4023360" y="5129784"/>
            <a:ext cx="1234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4455"/>
                </a:solidFill>
              </a:rPr>
              <a:t>✗</a:t>
            </a:r>
            <a:endParaRPr lang="en-US" sz="1200" dirty="0"/>
          </a:p>
        </p:txBody>
      </p:sp>
      <p:sp>
        <p:nvSpPr>
          <p:cNvPr id="99" name="Shape 97"/>
          <p:cNvSpPr/>
          <p:nvPr/>
        </p:nvSpPr>
        <p:spPr>
          <a:xfrm>
            <a:off x="5257800" y="5129784"/>
            <a:ext cx="1234440" cy="475488"/>
          </a:xfrm>
          <a:prstGeom prst="rect">
            <a:avLst/>
          </a:prstGeom>
          <a:solidFill>
            <a:srgbClr val="0A1929"/>
          </a:solidFill>
          <a:ln w="12700">
            <a:solidFill>
              <a:srgbClr val="1A3A50"/>
            </a:solidFill>
            <a:prstDash val="solid"/>
          </a:ln>
        </p:spPr>
      </p:sp>
      <p:sp>
        <p:nvSpPr>
          <p:cNvPr id="100" name="Text 98"/>
          <p:cNvSpPr/>
          <p:nvPr/>
        </p:nvSpPr>
        <p:spPr>
          <a:xfrm>
            <a:off x="5257800" y="5129784"/>
            <a:ext cx="1234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4455"/>
                </a:solidFill>
              </a:rPr>
              <a:t>✗</a:t>
            </a:r>
            <a:endParaRPr lang="en-US" sz="1200" dirty="0"/>
          </a:p>
        </p:txBody>
      </p:sp>
      <p:sp>
        <p:nvSpPr>
          <p:cNvPr id="101" name="Shape 99"/>
          <p:cNvSpPr/>
          <p:nvPr/>
        </p:nvSpPr>
        <p:spPr>
          <a:xfrm>
            <a:off x="6492240" y="5129784"/>
            <a:ext cx="1097280" cy="475488"/>
          </a:xfrm>
          <a:prstGeom prst="rect">
            <a:avLst/>
          </a:prstGeom>
          <a:solidFill>
            <a:srgbClr val="0A1929"/>
          </a:solidFill>
          <a:ln w="12700">
            <a:solidFill>
              <a:srgbClr val="1A3A50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6492240" y="5129784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2C55E"/>
                </a:solidFill>
              </a:rPr>
              <a:t>✓</a:t>
            </a:r>
            <a:endParaRPr lang="en-US" sz="1200" dirty="0"/>
          </a:p>
        </p:txBody>
      </p:sp>
      <p:sp>
        <p:nvSpPr>
          <p:cNvPr id="103" name="Shape 101"/>
          <p:cNvSpPr/>
          <p:nvPr/>
        </p:nvSpPr>
        <p:spPr>
          <a:xfrm>
            <a:off x="7589520" y="5129784"/>
            <a:ext cx="1097280" cy="475488"/>
          </a:xfrm>
          <a:prstGeom prst="rect">
            <a:avLst/>
          </a:prstGeom>
          <a:solidFill>
            <a:srgbClr val="0A1929"/>
          </a:solidFill>
          <a:ln w="12700">
            <a:solidFill>
              <a:srgbClr val="1A3A50"/>
            </a:solidFill>
            <a:prstDash val="solid"/>
          </a:ln>
        </p:spPr>
      </p:sp>
      <p:sp>
        <p:nvSpPr>
          <p:cNvPr id="104" name="Text 102"/>
          <p:cNvSpPr/>
          <p:nvPr/>
        </p:nvSpPr>
        <p:spPr>
          <a:xfrm>
            <a:off x="7589520" y="5129784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59E0B"/>
                </a:solidFill>
              </a:rPr>
              <a:t>~</a:t>
            </a:r>
            <a:endParaRPr lang="en-US" sz="1200" dirty="0"/>
          </a:p>
        </p:txBody>
      </p:sp>
      <p:sp>
        <p:nvSpPr>
          <p:cNvPr id="105" name="Shape 103"/>
          <p:cNvSpPr/>
          <p:nvPr/>
        </p:nvSpPr>
        <p:spPr>
          <a:xfrm>
            <a:off x="8686800" y="5129784"/>
            <a:ext cx="1097280" cy="475488"/>
          </a:xfrm>
          <a:prstGeom prst="rect">
            <a:avLst/>
          </a:prstGeom>
          <a:solidFill>
            <a:srgbClr val="0A1929"/>
          </a:solidFill>
          <a:ln w="12700">
            <a:solidFill>
              <a:srgbClr val="1A3A50"/>
            </a:solidFill>
            <a:prstDash val="solid"/>
          </a:ln>
        </p:spPr>
      </p:sp>
      <p:sp>
        <p:nvSpPr>
          <p:cNvPr id="106" name="Text 104"/>
          <p:cNvSpPr/>
          <p:nvPr/>
        </p:nvSpPr>
        <p:spPr>
          <a:xfrm>
            <a:off x="8686800" y="5129784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4455"/>
                </a:solidFill>
              </a:rPr>
              <a:t>✗</a:t>
            </a:r>
            <a:endParaRPr lang="en-US" sz="1200" dirty="0"/>
          </a:p>
        </p:txBody>
      </p:sp>
      <p:sp>
        <p:nvSpPr>
          <p:cNvPr id="107" name="Shape 105"/>
          <p:cNvSpPr/>
          <p:nvPr/>
        </p:nvSpPr>
        <p:spPr>
          <a:xfrm>
            <a:off x="457200" y="5605272"/>
            <a:ext cx="2011680" cy="475488"/>
          </a:xfrm>
          <a:prstGeom prst="rect">
            <a:avLst/>
          </a:prstGeom>
          <a:solidFill>
            <a:srgbClr val="0F1E30"/>
          </a:solidFill>
          <a:ln w="12700">
            <a:solidFill>
              <a:srgbClr val="1A3A50"/>
            </a:solidFill>
            <a:prstDash val="solid"/>
          </a:ln>
        </p:spPr>
      </p:sp>
      <p:sp>
        <p:nvSpPr>
          <p:cNvPr id="108" name="Text 106"/>
          <p:cNvSpPr/>
          <p:nvPr/>
        </p:nvSpPr>
        <p:spPr>
          <a:xfrm>
            <a:off x="457200" y="5605272"/>
            <a:ext cx="2011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CB3CC"/>
                </a:solidFill>
              </a:rPr>
              <a:t>Alfonsino</a:t>
            </a:r>
            <a:endParaRPr lang="en-US" sz="1000" dirty="0"/>
          </a:p>
        </p:txBody>
      </p:sp>
      <p:sp>
        <p:nvSpPr>
          <p:cNvPr id="109" name="Shape 107"/>
          <p:cNvSpPr/>
          <p:nvPr/>
        </p:nvSpPr>
        <p:spPr>
          <a:xfrm>
            <a:off x="2468880" y="5605272"/>
            <a:ext cx="1554480" cy="475488"/>
          </a:xfrm>
          <a:prstGeom prst="rect">
            <a:avLst/>
          </a:prstGeom>
          <a:solidFill>
            <a:srgbClr val="0F1E30"/>
          </a:solidFill>
          <a:ln w="12700">
            <a:solidFill>
              <a:srgbClr val="1A3A50"/>
            </a:solidFill>
            <a:prstDash val="solid"/>
          </a:ln>
        </p:spPr>
      </p:sp>
      <p:sp>
        <p:nvSpPr>
          <p:cNvPr id="110" name="Text 108"/>
          <p:cNvSpPr/>
          <p:nvPr/>
        </p:nvSpPr>
        <p:spPr>
          <a:xfrm>
            <a:off x="2468880" y="560527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CB3CC"/>
                </a:solidFill>
              </a:rPr>
              <a:t>25-30% comm.</a:t>
            </a:r>
            <a:endParaRPr lang="en-US" sz="1200" dirty="0"/>
          </a:p>
        </p:txBody>
      </p:sp>
      <p:sp>
        <p:nvSpPr>
          <p:cNvPr id="111" name="Shape 109"/>
          <p:cNvSpPr/>
          <p:nvPr/>
        </p:nvSpPr>
        <p:spPr>
          <a:xfrm>
            <a:off x="4023360" y="5605272"/>
            <a:ext cx="1234440" cy="475488"/>
          </a:xfrm>
          <a:prstGeom prst="rect">
            <a:avLst/>
          </a:prstGeom>
          <a:solidFill>
            <a:srgbClr val="0F1E30"/>
          </a:solidFill>
          <a:ln w="12700">
            <a:solidFill>
              <a:srgbClr val="1A3A50"/>
            </a:solidFill>
            <a:prstDash val="solid"/>
          </a:ln>
        </p:spPr>
      </p:sp>
      <p:sp>
        <p:nvSpPr>
          <p:cNvPr id="112" name="Text 110"/>
          <p:cNvSpPr/>
          <p:nvPr/>
        </p:nvSpPr>
        <p:spPr>
          <a:xfrm>
            <a:off x="4023360" y="5605272"/>
            <a:ext cx="1234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59E0B"/>
                </a:solidFill>
              </a:rPr>
              <a:t>~</a:t>
            </a:r>
            <a:endParaRPr lang="en-US" sz="1200" dirty="0"/>
          </a:p>
        </p:txBody>
      </p:sp>
      <p:sp>
        <p:nvSpPr>
          <p:cNvPr id="113" name="Shape 111"/>
          <p:cNvSpPr/>
          <p:nvPr/>
        </p:nvSpPr>
        <p:spPr>
          <a:xfrm>
            <a:off x="5257800" y="5605272"/>
            <a:ext cx="1234440" cy="475488"/>
          </a:xfrm>
          <a:prstGeom prst="rect">
            <a:avLst/>
          </a:prstGeom>
          <a:solidFill>
            <a:srgbClr val="0F1E30"/>
          </a:solidFill>
          <a:ln w="12700">
            <a:solidFill>
              <a:srgbClr val="1A3A50"/>
            </a:solidFill>
            <a:prstDash val="solid"/>
          </a:ln>
        </p:spPr>
      </p:sp>
      <p:sp>
        <p:nvSpPr>
          <p:cNvPr id="114" name="Text 112"/>
          <p:cNvSpPr/>
          <p:nvPr/>
        </p:nvSpPr>
        <p:spPr>
          <a:xfrm>
            <a:off x="5257800" y="5605272"/>
            <a:ext cx="1234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4455"/>
                </a:solidFill>
              </a:rPr>
              <a:t>✗</a:t>
            </a:r>
            <a:endParaRPr lang="en-US" sz="1200" dirty="0"/>
          </a:p>
        </p:txBody>
      </p:sp>
      <p:sp>
        <p:nvSpPr>
          <p:cNvPr id="115" name="Shape 113"/>
          <p:cNvSpPr/>
          <p:nvPr/>
        </p:nvSpPr>
        <p:spPr>
          <a:xfrm>
            <a:off x="6492240" y="5605272"/>
            <a:ext cx="1097280" cy="475488"/>
          </a:xfrm>
          <a:prstGeom prst="rect">
            <a:avLst/>
          </a:prstGeom>
          <a:solidFill>
            <a:srgbClr val="0F1E30"/>
          </a:solidFill>
          <a:ln w="12700">
            <a:solidFill>
              <a:srgbClr val="1A3A50"/>
            </a:solidFill>
            <a:prstDash val="solid"/>
          </a:ln>
        </p:spPr>
      </p:sp>
      <p:sp>
        <p:nvSpPr>
          <p:cNvPr id="116" name="Text 114"/>
          <p:cNvSpPr/>
          <p:nvPr/>
        </p:nvSpPr>
        <p:spPr>
          <a:xfrm>
            <a:off x="6492240" y="560527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2C55E"/>
                </a:solidFill>
              </a:rPr>
              <a:t>✓</a:t>
            </a:r>
            <a:endParaRPr lang="en-US" sz="1200" dirty="0"/>
          </a:p>
        </p:txBody>
      </p:sp>
      <p:sp>
        <p:nvSpPr>
          <p:cNvPr id="117" name="Shape 115"/>
          <p:cNvSpPr/>
          <p:nvPr/>
        </p:nvSpPr>
        <p:spPr>
          <a:xfrm>
            <a:off x="7589520" y="5605272"/>
            <a:ext cx="1097280" cy="475488"/>
          </a:xfrm>
          <a:prstGeom prst="rect">
            <a:avLst/>
          </a:prstGeom>
          <a:solidFill>
            <a:srgbClr val="0F1E30"/>
          </a:solidFill>
          <a:ln w="12700">
            <a:solidFill>
              <a:srgbClr val="1A3A50"/>
            </a:solidFill>
            <a:prstDash val="solid"/>
          </a:ln>
        </p:spPr>
      </p:sp>
      <p:sp>
        <p:nvSpPr>
          <p:cNvPr id="118" name="Text 116"/>
          <p:cNvSpPr/>
          <p:nvPr/>
        </p:nvSpPr>
        <p:spPr>
          <a:xfrm>
            <a:off x="7589520" y="560527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59E0B"/>
                </a:solidFill>
              </a:rPr>
              <a:t>~</a:t>
            </a:r>
            <a:endParaRPr lang="en-US" sz="1200" dirty="0"/>
          </a:p>
        </p:txBody>
      </p:sp>
      <p:sp>
        <p:nvSpPr>
          <p:cNvPr id="119" name="Shape 117"/>
          <p:cNvSpPr/>
          <p:nvPr/>
        </p:nvSpPr>
        <p:spPr>
          <a:xfrm>
            <a:off x="8686800" y="5605272"/>
            <a:ext cx="1097280" cy="475488"/>
          </a:xfrm>
          <a:prstGeom prst="rect">
            <a:avLst/>
          </a:prstGeom>
          <a:solidFill>
            <a:srgbClr val="0F1E30"/>
          </a:solidFill>
          <a:ln w="12700">
            <a:solidFill>
              <a:srgbClr val="1A3A50"/>
            </a:solidFill>
            <a:prstDash val="solid"/>
          </a:ln>
        </p:spPr>
      </p:sp>
      <p:sp>
        <p:nvSpPr>
          <p:cNvPr id="120" name="Text 118"/>
          <p:cNvSpPr/>
          <p:nvPr/>
        </p:nvSpPr>
        <p:spPr>
          <a:xfrm>
            <a:off x="8686800" y="560527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4455"/>
                </a:solidFill>
              </a:rPr>
              <a:t>✗</a:t>
            </a:r>
            <a:endParaRPr lang="en-US" sz="1200" dirty="0"/>
          </a:p>
        </p:txBody>
      </p:sp>
      <p:sp>
        <p:nvSpPr>
          <p:cNvPr id="121" name="Shape 119"/>
          <p:cNvSpPr/>
          <p:nvPr/>
        </p:nvSpPr>
        <p:spPr>
          <a:xfrm>
            <a:off x="457200" y="6080760"/>
            <a:ext cx="2011680" cy="475488"/>
          </a:xfrm>
          <a:prstGeom prst="rect">
            <a:avLst/>
          </a:prstGeom>
          <a:solidFill>
            <a:srgbClr val="0A1929"/>
          </a:solidFill>
          <a:ln w="12700">
            <a:solidFill>
              <a:srgbClr val="1A3A50"/>
            </a:solidFill>
            <a:prstDash val="solid"/>
          </a:ln>
        </p:spPr>
      </p:sp>
      <p:sp>
        <p:nvSpPr>
          <p:cNvPr id="122" name="Text 120"/>
          <p:cNvSpPr/>
          <p:nvPr/>
        </p:nvSpPr>
        <p:spPr>
          <a:xfrm>
            <a:off x="457200" y="6080760"/>
            <a:ext cx="2011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CB3CC"/>
                </a:solidFill>
              </a:rPr>
              <a:t>Uber Eats</a:t>
            </a:r>
            <a:endParaRPr lang="en-US" sz="1000" dirty="0"/>
          </a:p>
        </p:txBody>
      </p:sp>
      <p:sp>
        <p:nvSpPr>
          <p:cNvPr id="123" name="Shape 121"/>
          <p:cNvSpPr/>
          <p:nvPr/>
        </p:nvSpPr>
        <p:spPr>
          <a:xfrm>
            <a:off x="2468880" y="6080760"/>
            <a:ext cx="1554480" cy="475488"/>
          </a:xfrm>
          <a:prstGeom prst="rect">
            <a:avLst/>
          </a:prstGeom>
          <a:solidFill>
            <a:srgbClr val="0A1929"/>
          </a:solidFill>
          <a:ln w="12700">
            <a:solidFill>
              <a:srgbClr val="1A3A50"/>
            </a:solidFill>
            <a:prstDash val="solid"/>
          </a:ln>
        </p:spPr>
      </p:sp>
      <p:sp>
        <p:nvSpPr>
          <p:cNvPr id="124" name="Text 122"/>
          <p:cNvSpPr/>
          <p:nvPr/>
        </p:nvSpPr>
        <p:spPr>
          <a:xfrm>
            <a:off x="2468880" y="6080760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CB3CC"/>
                </a:solidFill>
              </a:rPr>
              <a:t>25-30% comm.</a:t>
            </a:r>
            <a:endParaRPr lang="en-US" sz="1200" dirty="0"/>
          </a:p>
        </p:txBody>
      </p:sp>
      <p:sp>
        <p:nvSpPr>
          <p:cNvPr id="125" name="Shape 123"/>
          <p:cNvSpPr/>
          <p:nvPr/>
        </p:nvSpPr>
        <p:spPr>
          <a:xfrm>
            <a:off x="4023360" y="6080760"/>
            <a:ext cx="1234440" cy="475488"/>
          </a:xfrm>
          <a:prstGeom prst="rect">
            <a:avLst/>
          </a:prstGeom>
          <a:solidFill>
            <a:srgbClr val="0A1929"/>
          </a:solidFill>
          <a:ln w="12700">
            <a:solidFill>
              <a:srgbClr val="1A3A50"/>
            </a:solidFill>
            <a:prstDash val="solid"/>
          </a:ln>
        </p:spPr>
      </p:sp>
      <p:sp>
        <p:nvSpPr>
          <p:cNvPr id="126" name="Text 124"/>
          <p:cNvSpPr/>
          <p:nvPr/>
        </p:nvSpPr>
        <p:spPr>
          <a:xfrm>
            <a:off x="4023360" y="6080760"/>
            <a:ext cx="1234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4455"/>
                </a:solidFill>
              </a:rPr>
              <a:t>✗</a:t>
            </a:r>
            <a:endParaRPr lang="en-US" sz="1200" dirty="0"/>
          </a:p>
        </p:txBody>
      </p:sp>
      <p:sp>
        <p:nvSpPr>
          <p:cNvPr id="127" name="Shape 125"/>
          <p:cNvSpPr/>
          <p:nvPr/>
        </p:nvSpPr>
        <p:spPr>
          <a:xfrm>
            <a:off x="5257800" y="6080760"/>
            <a:ext cx="1234440" cy="475488"/>
          </a:xfrm>
          <a:prstGeom prst="rect">
            <a:avLst/>
          </a:prstGeom>
          <a:solidFill>
            <a:srgbClr val="0A1929"/>
          </a:solidFill>
          <a:ln w="12700">
            <a:solidFill>
              <a:srgbClr val="1A3A50"/>
            </a:solidFill>
            <a:prstDash val="solid"/>
          </a:ln>
        </p:spPr>
      </p:sp>
      <p:sp>
        <p:nvSpPr>
          <p:cNvPr id="128" name="Text 126"/>
          <p:cNvSpPr/>
          <p:nvPr/>
        </p:nvSpPr>
        <p:spPr>
          <a:xfrm>
            <a:off x="5257800" y="6080760"/>
            <a:ext cx="1234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4455"/>
                </a:solidFill>
              </a:rPr>
              <a:t>✗</a:t>
            </a:r>
            <a:endParaRPr lang="en-US" sz="1200" dirty="0"/>
          </a:p>
        </p:txBody>
      </p:sp>
      <p:sp>
        <p:nvSpPr>
          <p:cNvPr id="129" name="Shape 127"/>
          <p:cNvSpPr/>
          <p:nvPr/>
        </p:nvSpPr>
        <p:spPr>
          <a:xfrm>
            <a:off x="6492240" y="6080760"/>
            <a:ext cx="1097280" cy="475488"/>
          </a:xfrm>
          <a:prstGeom prst="rect">
            <a:avLst/>
          </a:prstGeom>
          <a:solidFill>
            <a:srgbClr val="0A1929"/>
          </a:solidFill>
          <a:ln w="12700">
            <a:solidFill>
              <a:srgbClr val="1A3A50"/>
            </a:solidFill>
            <a:prstDash val="solid"/>
          </a:ln>
        </p:spPr>
      </p:sp>
      <p:sp>
        <p:nvSpPr>
          <p:cNvPr id="130" name="Text 128"/>
          <p:cNvSpPr/>
          <p:nvPr/>
        </p:nvSpPr>
        <p:spPr>
          <a:xfrm>
            <a:off x="6492240" y="6080760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2C55E"/>
                </a:solidFill>
              </a:rPr>
              <a:t>✓</a:t>
            </a:r>
            <a:endParaRPr lang="en-US" sz="1200" dirty="0"/>
          </a:p>
        </p:txBody>
      </p:sp>
      <p:sp>
        <p:nvSpPr>
          <p:cNvPr id="131" name="Shape 129"/>
          <p:cNvSpPr/>
          <p:nvPr/>
        </p:nvSpPr>
        <p:spPr>
          <a:xfrm>
            <a:off x="7589520" y="6080760"/>
            <a:ext cx="1097280" cy="475488"/>
          </a:xfrm>
          <a:prstGeom prst="rect">
            <a:avLst/>
          </a:prstGeom>
          <a:solidFill>
            <a:srgbClr val="0A1929"/>
          </a:solidFill>
          <a:ln w="12700">
            <a:solidFill>
              <a:srgbClr val="1A3A50"/>
            </a:solidFill>
            <a:prstDash val="solid"/>
          </a:ln>
        </p:spPr>
      </p:sp>
      <p:sp>
        <p:nvSpPr>
          <p:cNvPr id="132" name="Text 130"/>
          <p:cNvSpPr/>
          <p:nvPr/>
        </p:nvSpPr>
        <p:spPr>
          <a:xfrm>
            <a:off x="7589520" y="6080760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4455"/>
                </a:solidFill>
              </a:rPr>
              <a:t>✗</a:t>
            </a:r>
            <a:endParaRPr lang="en-US" sz="1200" dirty="0"/>
          </a:p>
        </p:txBody>
      </p:sp>
      <p:sp>
        <p:nvSpPr>
          <p:cNvPr id="133" name="Shape 131"/>
          <p:cNvSpPr/>
          <p:nvPr/>
        </p:nvSpPr>
        <p:spPr>
          <a:xfrm>
            <a:off x="8686800" y="6080760"/>
            <a:ext cx="1097280" cy="475488"/>
          </a:xfrm>
          <a:prstGeom prst="rect">
            <a:avLst/>
          </a:prstGeom>
          <a:solidFill>
            <a:srgbClr val="0A1929"/>
          </a:solidFill>
          <a:ln w="12700">
            <a:solidFill>
              <a:srgbClr val="1A3A50"/>
            </a:solidFill>
            <a:prstDash val="solid"/>
          </a:ln>
        </p:spPr>
      </p:sp>
      <p:sp>
        <p:nvSpPr>
          <p:cNvPr id="134" name="Text 132"/>
          <p:cNvSpPr/>
          <p:nvPr/>
        </p:nvSpPr>
        <p:spPr>
          <a:xfrm>
            <a:off x="8686800" y="6080760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4455"/>
                </a:solidFill>
              </a:rPr>
              <a:t>✗</a:t>
            </a:r>
            <a:endParaRPr lang="en-US" sz="1200" dirty="0"/>
          </a:p>
        </p:txBody>
      </p:sp>
      <p:sp>
        <p:nvSpPr>
          <p:cNvPr id="135" name="Text 133"/>
          <p:cNvSpPr/>
          <p:nvPr/>
        </p:nvSpPr>
        <p:spPr>
          <a:xfrm>
            <a:off x="457200" y="6080760"/>
            <a:ext cx="5486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34455"/>
                </a:solidFill>
              </a:rPr>
              <a:t>✓ = sì  |  ✗ = no  |  ~ = parziale</a:t>
            </a:r>
            <a:endParaRPr lang="en-US" sz="800" dirty="0"/>
          </a:p>
        </p:txBody>
      </p:sp>
      <p:sp>
        <p:nvSpPr>
          <p:cNvPr id="136" name="Text 134"/>
          <p:cNvSpPr/>
          <p:nvPr/>
        </p:nvSpPr>
        <p:spPr>
          <a:xfrm>
            <a:off x="10789920" y="630936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334455"/>
                </a:solidFill>
              </a:rPr>
              <a:t>05 / 12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19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14B8A6"/>
                </a:solidFill>
              </a:rPr>
              <a:t>POSIZIONAMENTO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68580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Dloop occupa il quadrante unico non presidiato da nessun competitor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457200" y="1417320"/>
            <a:ext cx="5623560" cy="2286000"/>
          </a:xfrm>
          <a:prstGeom prst="rect">
            <a:avLst/>
          </a:prstGeom>
          <a:solidFill>
            <a:srgbClr val="0F2535"/>
          </a:solidFill>
          <a:ln w="12700">
            <a:solidFill>
              <a:srgbClr val="1A3A5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080760" y="1417320"/>
            <a:ext cx="5623560" cy="2286000"/>
          </a:xfrm>
          <a:prstGeom prst="rect">
            <a:avLst/>
          </a:prstGeom>
          <a:solidFill>
            <a:srgbClr val="0A2A28"/>
          </a:solidFill>
          <a:ln w="12700">
            <a:solidFill>
              <a:srgbClr val="0B7A7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3703320"/>
            <a:ext cx="5623560" cy="2286000"/>
          </a:xfrm>
          <a:prstGeom prst="rect">
            <a:avLst/>
          </a:prstGeom>
          <a:solidFill>
            <a:srgbClr val="0A1520"/>
          </a:solidFill>
          <a:ln w="12700">
            <a:solidFill>
              <a:srgbClr val="1A3A5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080760" y="3703320"/>
            <a:ext cx="5623560" cy="2286000"/>
          </a:xfrm>
          <a:prstGeom prst="rect">
            <a:avLst/>
          </a:prstGeom>
          <a:solidFill>
            <a:srgbClr val="0A1929"/>
          </a:solidFill>
          <a:ln w="12700">
            <a:solidFill>
              <a:srgbClr val="1A3A5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94360" y="1508760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334455"/>
                </a:solidFill>
              </a:rPr>
              <a:t>MARKETPLACE LOCALE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6217920" y="1508760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0B7A75"/>
                </a:solidFill>
              </a:rPr>
              <a:t>SaaS LOCALE  ★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594360" y="3794760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334455"/>
                </a:solidFill>
              </a:rPr>
              <a:t>MARKETPLACE GLOBALE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6217920" y="3794760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334455"/>
                </a:solidFill>
              </a:rPr>
              <a:t>SAAS GLOBALE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11247120" cy="0"/>
          </a:xfrm>
          <a:prstGeom prst="line">
            <a:avLst/>
          </a:prstGeom>
          <a:noFill/>
          <a:ln w="12700">
            <a:solidFill>
              <a:srgbClr val="2A4A5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080760" y="1417320"/>
            <a:ext cx="0" cy="4572000"/>
          </a:xfrm>
          <a:prstGeom prst="line">
            <a:avLst/>
          </a:prstGeom>
          <a:noFill/>
          <a:ln w="12700">
            <a:solidFill>
              <a:srgbClr val="2A4A5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7200" y="3447288"/>
            <a:ext cx="11247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spc="100" kern="0" dirty="0">
                <a:solidFill>
                  <a:srgbClr val="4A6A7A"/>
                </a:solidFill>
              </a:rPr>
              <a:t>← MARKETPLACE          MODELLO          SAAS PURO →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6172200" y="1801368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A6A7A"/>
                </a:solidFill>
              </a:rPr>
              <a:t>↑ LOCALE / PMI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6172200" y="405079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A6A7A"/>
                </a:solidFill>
              </a:rPr>
              <a:t>↓ GLOBALE / ENTERPRISE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10009937" y="2265883"/>
            <a:ext cx="201168" cy="201168"/>
          </a:xfrm>
          <a:prstGeom prst="ellipse">
            <a:avLst/>
          </a:prstGeom>
          <a:solidFill>
            <a:srgbClr val="14B8A6"/>
          </a:solidFill>
          <a:ln w="12700">
            <a:solidFill>
              <a:srgbClr val="14B8A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238537" y="2201875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B8A6"/>
                </a:solidFill>
              </a:rPr>
              <a:t>🟢 DLOOP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8862822" y="4725162"/>
            <a:ext cx="118872" cy="118872"/>
          </a:xfrm>
          <a:prstGeom prst="ellipse">
            <a:avLst/>
          </a:prstGeom>
          <a:solidFill>
            <a:srgbClr val="8CB3CC"/>
          </a:solidFill>
          <a:ln w="12700">
            <a:solidFill>
              <a:srgbClr val="8CB3C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013698" y="4620006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CB3CC"/>
                </a:solidFill>
              </a:rPr>
              <a:t>Onfleet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8087868" y="4233672"/>
            <a:ext cx="118872" cy="118872"/>
          </a:xfrm>
          <a:prstGeom prst="ellipse">
            <a:avLst/>
          </a:prstGeom>
          <a:solidFill>
            <a:srgbClr val="8CB3CC"/>
          </a:solidFill>
          <a:ln w="12700">
            <a:solidFill>
              <a:srgbClr val="8CB3C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238744" y="4128516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CB3CC"/>
                </a:solidFill>
              </a:rPr>
              <a:t>Tookan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9121140" y="5059375"/>
            <a:ext cx="118872" cy="118872"/>
          </a:xfrm>
          <a:prstGeom prst="ellipse">
            <a:avLst/>
          </a:prstGeom>
          <a:solidFill>
            <a:srgbClr val="8CB3CC"/>
          </a:solidFill>
          <a:ln w="12700">
            <a:solidFill>
              <a:srgbClr val="8CB3C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272016" y="4954219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CB3CC"/>
                </a:solidFill>
              </a:rPr>
              <a:t>LogiNext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2818181" y="4528566"/>
            <a:ext cx="118872" cy="118872"/>
          </a:xfrm>
          <a:prstGeom prst="ellipse">
            <a:avLst/>
          </a:prstGeom>
          <a:solidFill>
            <a:srgbClr val="8899AA"/>
          </a:solidFill>
          <a:ln w="12700">
            <a:solidFill>
              <a:srgbClr val="8899A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69057" y="4423410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99AA"/>
                </a:solidFill>
              </a:rPr>
              <a:t>Glovo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024835" y="4823460"/>
            <a:ext cx="118872" cy="118872"/>
          </a:xfrm>
          <a:prstGeom prst="ellipse">
            <a:avLst/>
          </a:prstGeom>
          <a:solidFill>
            <a:srgbClr val="8899AA"/>
          </a:solidFill>
          <a:ln w="12700">
            <a:solidFill>
              <a:srgbClr val="8899AA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175711" y="4718304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99AA"/>
                </a:solidFill>
              </a:rPr>
              <a:t>Deliveroo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3179826" y="5059375"/>
            <a:ext cx="118872" cy="118872"/>
          </a:xfrm>
          <a:prstGeom prst="ellipse">
            <a:avLst/>
          </a:prstGeom>
          <a:solidFill>
            <a:srgbClr val="8899AA"/>
          </a:solidFill>
          <a:ln w="12700">
            <a:solidFill>
              <a:srgbClr val="8899A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330702" y="4954219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99AA"/>
                </a:solidFill>
              </a:rPr>
              <a:t>Uber Eats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3438144" y="4725162"/>
            <a:ext cx="118872" cy="118872"/>
          </a:xfrm>
          <a:prstGeom prst="ellipse">
            <a:avLst/>
          </a:prstGeom>
          <a:solidFill>
            <a:srgbClr val="8899AA"/>
          </a:solidFill>
          <a:ln w="12700">
            <a:solidFill>
              <a:srgbClr val="8899AA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589020" y="4620006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99AA"/>
                </a:solidFill>
              </a:rPr>
              <a:t>Just Eat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4213098" y="3054096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363974" y="2948940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59E0B"/>
                </a:solidFill>
              </a:rPr>
              <a:t>Alfonsino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9379458" y="4921758"/>
            <a:ext cx="118872" cy="118872"/>
          </a:xfrm>
          <a:prstGeom prst="ellipse">
            <a:avLst/>
          </a:prstGeom>
          <a:solidFill>
            <a:srgbClr val="8CB3CC"/>
          </a:solidFill>
          <a:ln w="12700">
            <a:solidFill>
              <a:srgbClr val="8CB3CC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9530334" y="4816602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CB3CC"/>
                </a:solidFill>
              </a:rPr>
              <a:t>Bringg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457200" y="6126480"/>
            <a:ext cx="11247120" cy="475488"/>
          </a:xfrm>
          <a:prstGeom prst="rect">
            <a:avLst/>
          </a:prstGeom>
          <a:solidFill>
            <a:srgbClr val="0A1929"/>
          </a:solidFill>
          <a:ln w="12700">
            <a:solidFill>
              <a:srgbClr val="1A3A50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40080" y="6254496"/>
            <a:ext cx="109728" cy="109728"/>
          </a:xfrm>
          <a:prstGeom prst="ellipse">
            <a:avLst/>
          </a:prstGeom>
          <a:solidFill>
            <a:srgbClr val="14B8A6"/>
          </a:solidFill>
          <a:ln w="12700">
            <a:solidFill>
              <a:srgbClr val="14B8A6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804672" y="6217920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4B8A6"/>
                </a:solidFill>
              </a:rPr>
              <a:t>Dloop — SaaS locale PMI (posizione unica)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3108960" y="6254496"/>
            <a:ext cx="109728" cy="109728"/>
          </a:xfrm>
          <a:prstGeom prst="ellipse">
            <a:avLst/>
          </a:prstGeom>
          <a:solidFill>
            <a:srgbClr val="8CB3CC"/>
          </a:solidFill>
          <a:ln w="12700">
            <a:solidFill>
              <a:srgbClr val="8CB3CC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273552" y="6217920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CB3CC"/>
                </a:solidFill>
              </a:rPr>
              <a:t>SaaS B2B delivery (Onfleet, Tookan, LogiNext, Bringg)</a:t>
            </a:r>
            <a:endParaRPr lang="en-US" sz="800" dirty="0"/>
          </a:p>
        </p:txBody>
      </p:sp>
      <p:sp>
        <p:nvSpPr>
          <p:cNvPr id="42" name="Shape 40"/>
          <p:cNvSpPr/>
          <p:nvPr/>
        </p:nvSpPr>
        <p:spPr>
          <a:xfrm>
            <a:off x="5577840" y="6254496"/>
            <a:ext cx="109728" cy="109728"/>
          </a:xfrm>
          <a:prstGeom prst="ellipse">
            <a:avLst/>
          </a:prstGeom>
          <a:solidFill>
            <a:srgbClr val="8899AA"/>
          </a:solidFill>
          <a:ln w="12700">
            <a:solidFill>
              <a:srgbClr val="8899AA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742432" y="6217920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99AA"/>
                </a:solidFill>
              </a:rPr>
              <a:t>Marketplace globali (Glovo, Deliveroo, Uber Eats, Just Eat)</a:t>
            </a:r>
            <a:endParaRPr lang="en-US" sz="800" dirty="0"/>
          </a:p>
        </p:txBody>
      </p:sp>
      <p:sp>
        <p:nvSpPr>
          <p:cNvPr id="44" name="Shape 42"/>
          <p:cNvSpPr/>
          <p:nvPr/>
        </p:nvSpPr>
        <p:spPr>
          <a:xfrm>
            <a:off x="8046720" y="6254496"/>
            <a:ext cx="109728" cy="10972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8211312" y="6217920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59E0B"/>
                </a:solidFill>
              </a:rPr>
              <a:t>Marketplace locale (Alfonsino)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10789920" y="6492240"/>
            <a:ext cx="1097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334455"/>
                </a:solidFill>
              </a:rPr>
              <a:t>06 / 12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2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14B8A6"/>
                </a:solidFill>
              </a:rPr>
              <a:t>BUSINESS MODEL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640080"/>
            <a:ext cx="8229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Canone SaaS + fee per ordine.</a:t>
            </a:r>
            <a:endParaRPr lang="en-US" sz="34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Ricavi multipli, costi fissi.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457200" y="1828800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4B8A6"/>
                </a:solidFill>
              </a:rPr>
              <a:t>SMB — Merchant singoli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2148840"/>
            <a:ext cx="5394960" cy="548640"/>
          </a:xfrm>
          <a:prstGeom prst="rect">
            <a:avLst/>
          </a:prstGeom>
          <a:solidFill>
            <a:srgbClr val="0A1929"/>
          </a:solidFill>
          <a:ln w="12700">
            <a:solidFill>
              <a:srgbClr val="1A3A5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2194560"/>
            <a:ext cx="2926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Starter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40080" y="2423160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B3CC"/>
                </a:solidFill>
              </a:rPr>
              <a:t>50 ord. inclusi · €0,80/extra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114800" y="214884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€39/mese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57200" y="2761488"/>
            <a:ext cx="5394960" cy="548640"/>
          </a:xfrm>
          <a:prstGeom prst="rect">
            <a:avLst/>
          </a:prstGeom>
          <a:solidFill>
            <a:srgbClr val="0D3D38"/>
          </a:solidFill>
          <a:ln w="12700">
            <a:solidFill>
              <a:srgbClr val="0B7A7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807208"/>
            <a:ext cx="2926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Pro  ★ Più popolare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40080" y="3035808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B3CC"/>
                </a:solidFill>
              </a:rPr>
              <a:t>100 ord. inclusi · €0,80/extra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4114800" y="2761488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€79/mese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" y="3374136"/>
            <a:ext cx="5394960" cy="548640"/>
          </a:xfrm>
          <a:prstGeom prst="rect">
            <a:avLst/>
          </a:prstGeom>
          <a:solidFill>
            <a:srgbClr val="0A1929"/>
          </a:solidFill>
          <a:ln w="12700">
            <a:solidFill>
              <a:srgbClr val="1A3A5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3419856"/>
            <a:ext cx="2926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Enterprise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40080" y="3648456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B3CC"/>
                </a:solidFill>
              </a:rPr>
              <a:t>250 ord. inclusi · €0,50/extra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114800" y="3374136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€149/mese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57200" y="4023360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4B8A6"/>
                </a:solidFill>
              </a:rPr>
              <a:t>B2B Operator — Flotte delivery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7200" y="4343400"/>
            <a:ext cx="5394960" cy="438912"/>
          </a:xfrm>
          <a:prstGeom prst="rect">
            <a:avLst/>
          </a:prstGeom>
          <a:solidFill>
            <a:srgbClr val="0A1929"/>
          </a:solidFill>
          <a:ln w="12700">
            <a:solidFill>
              <a:srgbClr val="1A3A5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40080" y="4370832"/>
            <a:ext cx="2926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Starter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40080" y="4572000"/>
            <a:ext cx="2926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CB3CC"/>
                </a:solidFill>
              </a:rPr>
              <a:t>500 ord. inclusi · €0,90/extra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4114800" y="4343400"/>
            <a:ext cx="1554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4B8A6"/>
                </a:solidFill>
              </a:rPr>
              <a:t>€99/mese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57200" y="4837176"/>
            <a:ext cx="5394960" cy="438912"/>
          </a:xfrm>
          <a:prstGeom prst="rect">
            <a:avLst/>
          </a:prstGeom>
          <a:solidFill>
            <a:srgbClr val="0D3D38"/>
          </a:solidFill>
          <a:ln w="12700">
            <a:solidFill>
              <a:srgbClr val="0B7A75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0080" y="4864608"/>
            <a:ext cx="2926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Business ★ Target ADV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640080" y="5065776"/>
            <a:ext cx="2926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CB3CC"/>
                </a:solidFill>
              </a:rPr>
              <a:t>1.500 ord. inclusi · €0,60/extra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4114800" y="4837176"/>
            <a:ext cx="1554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4B8A6"/>
                </a:solidFill>
              </a:rPr>
              <a:t>€199/mese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457200" y="5330952"/>
            <a:ext cx="5394960" cy="438912"/>
          </a:xfrm>
          <a:prstGeom prst="rect">
            <a:avLst/>
          </a:prstGeom>
          <a:solidFill>
            <a:srgbClr val="0A3020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080" y="5358384"/>
            <a:ext cx="2926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4ADE80"/>
                </a:solidFill>
              </a:rPr>
              <a:t>Business Plus ★ NUOVO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640080" y="5559552"/>
            <a:ext cx="2926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CB3CC"/>
                </a:solidFill>
              </a:rPr>
              <a:t>3.000 ord. inclusi · €0,45/extra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4114800" y="5330952"/>
            <a:ext cx="1554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4ADE80"/>
                </a:solidFill>
              </a:rPr>
              <a:t>€299/mese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457200" y="5824728"/>
            <a:ext cx="5394960" cy="438912"/>
          </a:xfrm>
          <a:prstGeom prst="rect">
            <a:avLst/>
          </a:prstGeom>
          <a:solidFill>
            <a:srgbClr val="0A1929"/>
          </a:solidFill>
          <a:ln w="12700">
            <a:solidFill>
              <a:srgbClr val="1A3A5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40080" y="5852160"/>
            <a:ext cx="2926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Enterprise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640080" y="6053328"/>
            <a:ext cx="2926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CB3CC"/>
                </a:solidFill>
              </a:rPr>
              <a:t>5.000 ord. inclusi · €0,30/extra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4114800" y="5824728"/>
            <a:ext cx="1554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4B8A6"/>
                </a:solidFill>
              </a:rPr>
              <a:t>€499/mese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6400800" y="1828800"/>
            <a:ext cx="5257800" cy="3200400"/>
          </a:xfrm>
          <a:prstGeom prst="rect">
            <a:avLst/>
          </a:prstGeom>
          <a:solidFill>
            <a:srgbClr val="0A1929"/>
          </a:solidFill>
          <a:ln w="12700">
            <a:solidFill>
              <a:srgbClr val="1A3A50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5000"/>
              </a:srgbClr>
            </a:outerShdw>
          </a:effectLst>
        </p:spPr>
      </p:sp>
      <p:sp>
        <p:nvSpPr>
          <p:cNvPr id="35" name="Text 33"/>
          <p:cNvSpPr/>
          <p:nvPr/>
        </p:nvSpPr>
        <p:spPr>
          <a:xfrm>
            <a:off x="6583680" y="1920240"/>
            <a:ext cx="4846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14B8A6"/>
                </a:solidFill>
              </a:rPr>
              <a:t>UNIT ECONOMICS PER ORDINE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6583680" y="2304288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CB3CC"/>
                </a:solidFill>
              </a:rPr>
              <a:t>Revenue blended/ordine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9509760" y="2304288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€ 2,07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6583680" y="2734056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CB3CC"/>
                </a:solidFill>
              </a:rPr>
              <a:t>Costo variabile/ordine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9509760" y="2734056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€0,55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6583680" y="3163824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CB3CC"/>
                </a:solidFill>
              </a:rPr>
              <a:t>Margine/ordine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9509760" y="3163824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€ 1,52</a:t>
            </a:r>
            <a:endParaRPr lang="en-US" sz="1200" dirty="0"/>
          </a:p>
        </p:txBody>
      </p:sp>
      <p:sp>
        <p:nvSpPr>
          <p:cNvPr id="42" name="Shape 40"/>
          <p:cNvSpPr/>
          <p:nvPr/>
        </p:nvSpPr>
        <p:spPr>
          <a:xfrm>
            <a:off x="6583680" y="3575304"/>
            <a:ext cx="4846320" cy="0"/>
          </a:xfrm>
          <a:prstGeom prst="line">
            <a:avLst/>
          </a:prstGeom>
          <a:noFill/>
          <a:ln w="12700">
            <a:solidFill>
              <a:srgbClr val="0B7A75"/>
            </a:solidFill>
            <a:prstDash val="dash"/>
          </a:ln>
        </p:spPr>
      </p:sp>
      <p:sp>
        <p:nvSpPr>
          <p:cNvPr id="43" name="Text 41"/>
          <p:cNvSpPr/>
          <p:nvPr/>
        </p:nvSpPr>
        <p:spPr>
          <a:xfrm>
            <a:off x="6583680" y="3593592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CB3CC"/>
                </a:solidFill>
              </a:rPr>
              <a:t>Gross Margin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9509760" y="3593592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73%</a:t>
            </a:r>
            <a:endParaRPr lang="en-US" sz="1200" dirty="0"/>
          </a:p>
        </p:txBody>
      </p:sp>
      <p:sp>
        <p:nvSpPr>
          <p:cNvPr id="45" name="Text 43"/>
          <p:cNvSpPr/>
          <p:nvPr/>
        </p:nvSpPr>
        <p:spPr>
          <a:xfrm>
            <a:off x="6583680" y="402336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CB3CC"/>
                </a:solidFill>
              </a:rPr>
              <a:t>Revenue media/dealer</a:t>
            </a:r>
            <a:endParaRPr lang="en-US" sz="1100" dirty="0"/>
          </a:p>
        </p:txBody>
      </p:sp>
      <p:sp>
        <p:nvSpPr>
          <p:cNvPr id="46" name="Text 44"/>
          <p:cNvSpPr/>
          <p:nvPr/>
        </p:nvSpPr>
        <p:spPr>
          <a:xfrm>
            <a:off x="9509760" y="402336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€ 310/mese</a:t>
            </a:r>
            <a:endParaRPr lang="en-US" sz="1200" dirty="0"/>
          </a:p>
        </p:txBody>
      </p:sp>
      <p:sp>
        <p:nvSpPr>
          <p:cNvPr id="47" name="Text 45"/>
          <p:cNvSpPr/>
          <p:nvPr/>
        </p:nvSpPr>
        <p:spPr>
          <a:xfrm>
            <a:off x="6583680" y="4453128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CB3CC"/>
                </a:solidFill>
              </a:rPr>
              <a:t>Break-even</a:t>
            </a:r>
            <a:endParaRPr lang="en-US" sz="1100" dirty="0"/>
          </a:p>
        </p:txBody>
      </p:sp>
      <p:sp>
        <p:nvSpPr>
          <p:cNvPr id="48" name="Text 46"/>
          <p:cNvSpPr/>
          <p:nvPr/>
        </p:nvSpPr>
        <p:spPr>
          <a:xfrm>
            <a:off x="9509760" y="4453128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M11 @ 61 dealer</a:t>
            </a:r>
            <a:endParaRPr lang="en-US" sz="1200" dirty="0"/>
          </a:p>
        </p:txBody>
      </p:sp>
      <p:sp>
        <p:nvSpPr>
          <p:cNvPr id="49" name="Shape 47"/>
          <p:cNvSpPr/>
          <p:nvPr/>
        </p:nvSpPr>
        <p:spPr>
          <a:xfrm>
            <a:off x="6400800" y="5166360"/>
            <a:ext cx="5257800" cy="777240"/>
          </a:xfrm>
          <a:prstGeom prst="rect">
            <a:avLst/>
          </a:prstGeom>
          <a:solidFill>
            <a:srgbClr val="0A2A28"/>
          </a:solidFill>
          <a:ln w="12700">
            <a:solidFill>
              <a:srgbClr val="0B7A75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583680" y="5230368"/>
            <a:ext cx="4937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000" dirty="0">
                <a:solidFill>
                  <a:srgbClr val="7EC8A0"/>
                </a:solidFill>
              </a:rPr>
              <a:t>💰  Saving dealer vs Alfonsino: +€17.790/anno</a:t>
            </a:r>
            <a:endParaRPr lang="en-US" sz="10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000" dirty="0">
                <a:solidFill>
                  <a:srgbClr val="7EC8A0"/>
                </a:solidFill>
              </a:rPr>
              <a:t>🚀  WhatsApp Bot add-on: +€39–78/mese/dealer</a:t>
            </a:r>
            <a:endParaRPr lang="en-US" sz="1000" dirty="0"/>
          </a:p>
        </p:txBody>
      </p:sp>
      <p:sp>
        <p:nvSpPr>
          <p:cNvPr id="51" name="Text 49"/>
          <p:cNvSpPr/>
          <p:nvPr/>
        </p:nvSpPr>
        <p:spPr>
          <a:xfrm>
            <a:off x="10789920" y="630936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334455"/>
                </a:solidFill>
              </a:rPr>
              <a:t>07 / 12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19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5486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14B8A6"/>
                </a:solidFill>
              </a:rPr>
              <a:t>PROIEZIONI FINANZIARIE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640080"/>
            <a:ext cx="8229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Break-even M11 @ 61 dealer.</a:t>
            </a:r>
            <a:endParaRPr lang="en-US" sz="34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LTV:CAC 16-18x.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457200" y="1828800"/>
            <a:ext cx="2697480" cy="1737360"/>
          </a:xfrm>
          <a:prstGeom prst="rect">
            <a:avLst/>
          </a:prstGeom>
          <a:solidFill>
            <a:srgbClr val="0F2535"/>
          </a:solidFill>
          <a:ln w="12700">
            <a:solidFill>
              <a:srgbClr val="1A3A5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920240"/>
            <a:ext cx="2697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4B8A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M11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457200" y="265176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Break-even operativo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457200" y="2944368"/>
            <a:ext cx="2697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CB3CC"/>
                </a:solidFill>
              </a:rPr>
              <a:t>@ 61 dealer attivi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3383280" y="1828800"/>
            <a:ext cx="2697480" cy="1737360"/>
          </a:xfrm>
          <a:prstGeom prst="rect">
            <a:avLst/>
          </a:prstGeom>
          <a:solidFill>
            <a:srgbClr val="0F2535"/>
          </a:solidFill>
          <a:ln w="12700">
            <a:solidFill>
              <a:srgbClr val="1A3A5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383280" y="1920240"/>
            <a:ext cx="2697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0B98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73%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383280" y="265176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Gross Margin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3383280" y="2944368"/>
            <a:ext cx="2697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CB3CC"/>
                </a:solidFill>
              </a:rPr>
              <a:t>Benchmark SaaS: &gt;70%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6309360" y="1828800"/>
            <a:ext cx="2697480" cy="1737360"/>
          </a:xfrm>
          <a:prstGeom prst="rect">
            <a:avLst/>
          </a:prstGeom>
          <a:solidFill>
            <a:srgbClr val="0F2535"/>
          </a:solidFill>
          <a:ln w="12700">
            <a:solidFill>
              <a:srgbClr val="1A3A5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309360" y="1920240"/>
            <a:ext cx="2697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59E0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16-18x</a:t>
            </a:r>
            <a:endParaRPr lang="en-US" sz="3200" dirty="0"/>
          </a:p>
        </p:txBody>
      </p:sp>
      <p:sp>
        <p:nvSpPr>
          <p:cNvPr id="14" name="Text 12"/>
          <p:cNvSpPr/>
          <p:nvPr/>
        </p:nvSpPr>
        <p:spPr>
          <a:xfrm>
            <a:off x="6309360" y="265176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LTV:CAC Ratio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309360" y="2944368"/>
            <a:ext cx="2697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CB3CC"/>
                </a:solidFill>
              </a:rPr>
              <a:t>Benchmark VC: &gt;3x ✓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9235440" y="1828800"/>
            <a:ext cx="2697480" cy="1737360"/>
          </a:xfrm>
          <a:prstGeom prst="rect">
            <a:avLst/>
          </a:prstGeom>
          <a:solidFill>
            <a:srgbClr val="0F2535"/>
          </a:solidFill>
          <a:ln w="12700">
            <a:solidFill>
              <a:srgbClr val="1A3A5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235440" y="1920240"/>
            <a:ext cx="2697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4B8A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 mesi</a:t>
            </a:r>
            <a:endParaRPr lang="en-US" sz="3200" dirty="0"/>
          </a:p>
        </p:txBody>
      </p:sp>
      <p:sp>
        <p:nvSpPr>
          <p:cNvPr id="18" name="Text 16"/>
          <p:cNvSpPr/>
          <p:nvPr/>
        </p:nvSpPr>
        <p:spPr>
          <a:xfrm>
            <a:off x="9235440" y="265176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CAC Payback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9235440" y="2944368"/>
            <a:ext cx="2697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CB3CC"/>
                </a:solidFill>
              </a:rPr>
              <a:t>Benchmark: &lt;18 mesi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457200" y="379476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14B8A6"/>
                </a:solidFill>
              </a:rPr>
              <a:t>Crescita MRR — Scenario Guerriglia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57200" y="4114800"/>
            <a:ext cx="2468880" cy="777240"/>
          </a:xfrm>
          <a:prstGeom prst="rect">
            <a:avLst/>
          </a:prstGeom>
          <a:solidFill>
            <a:srgbClr val="0F2535"/>
          </a:solidFill>
          <a:ln w="12700">
            <a:solidFill>
              <a:srgbClr val="1A3A5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57200" y="416052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CB3CC"/>
                </a:solidFill>
              </a:rPr>
              <a:t>M3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1280160" y="416052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8CB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€ 744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457200" y="4480560"/>
            <a:ext cx="2468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A8A9A"/>
                </a:solidFill>
              </a:rPr>
              <a:t>seed ricevuto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3200400" y="4114800"/>
            <a:ext cx="2468880" cy="777240"/>
          </a:xfrm>
          <a:prstGeom prst="rect">
            <a:avLst/>
          </a:prstGeom>
          <a:solidFill>
            <a:srgbClr val="0F2535"/>
          </a:solidFill>
          <a:ln w="12700">
            <a:solidFill>
              <a:srgbClr val="1A3A5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200400" y="416052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CB3CC"/>
                </a:solidFill>
              </a:rPr>
              <a:t>M6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4023360" y="416052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8CB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€ 3.021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3200400" y="4480560"/>
            <a:ext cx="2468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A8A9A"/>
                </a:solidFill>
              </a:rPr>
              <a:t>scala outreach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5943600" y="4114800"/>
            <a:ext cx="2468880" cy="777240"/>
          </a:xfrm>
          <a:prstGeom prst="rect">
            <a:avLst/>
          </a:prstGeom>
          <a:solidFill>
            <a:srgbClr val="0A2A20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943600" y="416052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CB3CC"/>
                </a:solidFill>
              </a:rPr>
              <a:t>M11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6766560" y="416052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€ 13.000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5943600" y="4480560"/>
            <a:ext cx="2468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A8A9A"/>
                </a:solidFill>
              </a:rPr>
              <a:t>break-even ✓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8686800" y="4114800"/>
            <a:ext cx="2468880" cy="777240"/>
          </a:xfrm>
          <a:prstGeom prst="rect">
            <a:avLst/>
          </a:prstGeom>
          <a:solidFill>
            <a:srgbClr val="0F2535"/>
          </a:solidFill>
          <a:ln w="12700">
            <a:solidFill>
              <a:srgbClr val="1A3A5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8686800" y="416052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CB3CC"/>
                </a:solidFill>
              </a:rPr>
              <a:t>M18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9509760" y="416052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€ 25.000+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8686800" y="4480560"/>
            <a:ext cx="2468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A8A9A"/>
                </a:solidFill>
              </a:rPr>
              <a:t>regime</a:t>
            </a:r>
            <a:endParaRPr lang="en-US" sz="800" dirty="0"/>
          </a:p>
        </p:txBody>
      </p:sp>
      <p:sp>
        <p:nvSpPr>
          <p:cNvPr id="37" name="Text 35"/>
          <p:cNvSpPr/>
          <p:nvPr/>
        </p:nvSpPr>
        <p:spPr>
          <a:xfrm>
            <a:off x="6217920" y="3794760"/>
            <a:ext cx="5303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14B8A6"/>
                </a:solidFill>
              </a:rPr>
              <a:t>P&amp;L Anno 1 — Guerriglia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6217920" y="4114800"/>
            <a:ext cx="5394960" cy="438912"/>
          </a:xfrm>
          <a:prstGeom prst="rect">
            <a:avLst/>
          </a:prstGeom>
          <a:solidFill>
            <a:srgbClr val="0F2535"/>
          </a:solidFill>
          <a:ln w="12700">
            <a:solidFill>
              <a:srgbClr val="1A3A5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0" y="416052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CB3CC"/>
                </a:solidFill>
              </a:rPr>
              <a:t>Burn totale Anno 1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9326880" y="416052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€ 74.694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6217920" y="4617720"/>
            <a:ext cx="5394960" cy="438912"/>
          </a:xfrm>
          <a:prstGeom prst="rect">
            <a:avLst/>
          </a:prstGeom>
          <a:solidFill>
            <a:srgbClr val="0F2535"/>
          </a:solidFill>
          <a:ln w="12700">
            <a:solidFill>
              <a:srgbClr val="1A3A5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00800" y="466344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CB3CC"/>
                </a:solidFill>
              </a:rPr>
              <a:t>OpEx mensile (3 FTE)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9326880" y="466344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8CB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€9.400–€13.800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6217920" y="5120640"/>
            <a:ext cx="5394960" cy="438912"/>
          </a:xfrm>
          <a:prstGeom prst="rect">
            <a:avLst/>
          </a:prstGeom>
          <a:solidFill>
            <a:srgbClr val="0F2535"/>
          </a:solidFill>
          <a:ln w="12700">
            <a:solidFill>
              <a:srgbClr val="1A3A5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400800" y="51663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CB3CC"/>
                </a:solidFill>
              </a:rPr>
              <a:t>CAC Guerriglia M1-M4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9326880" y="516636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€ 42/dealer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6217920" y="5623560"/>
            <a:ext cx="5394960" cy="438912"/>
          </a:xfrm>
          <a:prstGeom prst="rect">
            <a:avLst/>
          </a:prstGeom>
          <a:solidFill>
            <a:srgbClr val="0A2A20"/>
          </a:solidFill>
          <a:ln w="12700">
            <a:solidFill>
              <a:srgbClr val="1A3A50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400800" y="566928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CB3CC"/>
                </a:solidFill>
              </a:rPr>
              <a:t>Saving vs Alfonsino</a:t>
            </a:r>
            <a:endParaRPr lang="en-US" sz="1000" dirty="0"/>
          </a:p>
        </p:txBody>
      </p:sp>
      <p:sp>
        <p:nvSpPr>
          <p:cNvPr id="49" name="Text 47"/>
          <p:cNvSpPr/>
          <p:nvPr/>
        </p:nvSpPr>
        <p:spPr>
          <a:xfrm>
            <a:off x="9326880" y="566928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+€17.790/anno</a:t>
            </a:r>
            <a:endParaRPr lang="en-US" sz="1000" dirty="0"/>
          </a:p>
        </p:txBody>
      </p:sp>
      <p:sp>
        <p:nvSpPr>
          <p:cNvPr id="50" name="Text 48"/>
          <p:cNvSpPr/>
          <p:nvPr/>
        </p:nvSpPr>
        <p:spPr>
          <a:xfrm>
            <a:off x="10789920" y="630936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334455"/>
                </a:solidFill>
              </a:rPr>
              <a:t>08 / 12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D1F3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5486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14B8A6"/>
                </a:solidFill>
              </a:rPr>
              <a:t>TRAZIONE E VALIDAZIONE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640080"/>
            <a:ext cx="8229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MVP pronto. Primi merchant</a:t>
            </a:r>
            <a:endParaRPr lang="en-US" sz="34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già identificati.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457200" y="1874520"/>
            <a:ext cx="5486400" cy="960120"/>
          </a:xfrm>
          <a:prstGeom prst="rect">
            <a:avLst/>
          </a:prstGeom>
          <a:solidFill>
            <a:srgbClr val="0F2535"/>
          </a:solidFill>
          <a:ln w="12700">
            <a:solidFill>
              <a:srgbClr val="1A3A5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2167128"/>
            <a:ext cx="164592" cy="164592"/>
          </a:xfrm>
          <a:prstGeom prst="ellipse">
            <a:avLst/>
          </a:prstGeom>
          <a:solidFill>
            <a:srgbClr val="0B7A75"/>
          </a:solidFill>
          <a:ln w="12700">
            <a:solidFill>
              <a:srgbClr val="0B7A7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1929384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App Rider Flutter — prototipo funzionante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868680" y="2221992"/>
            <a:ext cx="49377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900" dirty="0">
                <a:solidFill>
                  <a:srgbClr val="8CB3CC"/>
                </a:solidFill>
              </a:rPr>
              <a:t>Sviluppato da Saba (CTO, P.IVA). Ordini, navigazione, prova di consegna. Pronto deploy iOS/Android.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457200" y="2926080"/>
            <a:ext cx="5486400" cy="960120"/>
          </a:xfrm>
          <a:prstGeom prst="rect">
            <a:avLst/>
          </a:prstGeom>
          <a:solidFill>
            <a:srgbClr val="0F2535"/>
          </a:solidFill>
          <a:ln w="12700">
            <a:solidFill>
              <a:srgbClr val="1A3A5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94360" y="3218688"/>
            <a:ext cx="164592" cy="164592"/>
          </a:xfrm>
          <a:prstGeom prst="ellipse">
            <a:avLst/>
          </a:prstGeom>
          <a:solidFill>
            <a:srgbClr val="0B7A75"/>
          </a:solidFill>
          <a:ln w="12700">
            <a:solidFill>
              <a:srgbClr val="0B7A7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2980944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WhatsApp Bot dual-AI (Operai + Haiku)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868680" y="3273552"/>
            <a:ext cx="49377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900" dirty="0">
                <a:solidFill>
                  <a:srgbClr val="8CB3CC"/>
                </a:solidFill>
              </a:rPr>
              <a:t>Strategia parallela con fallback integrato. Costo ~€78/anno, 95% accuratezza. File deployment pronti.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57200" y="3977640"/>
            <a:ext cx="5486400" cy="960120"/>
          </a:xfrm>
          <a:prstGeom prst="rect">
            <a:avLst/>
          </a:prstGeom>
          <a:solidFill>
            <a:srgbClr val="0F2535"/>
          </a:solidFill>
          <a:ln w="12700">
            <a:solidFill>
              <a:srgbClr val="1A3A5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94360" y="4270248"/>
            <a:ext cx="164592" cy="164592"/>
          </a:xfrm>
          <a:prstGeom prst="ellipse">
            <a:avLst/>
          </a:prstGeom>
          <a:solidFill>
            <a:srgbClr val="0B7A75"/>
          </a:solidFill>
          <a:ln w="12700">
            <a:solidFill>
              <a:srgbClr val="0B7A7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68680" y="4032504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Pipeline warm: 6+ merchant certi a M1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868680" y="4325112"/>
            <a:ext cx="49377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900" dirty="0">
                <a:solidFill>
                  <a:srgbClr val="8CB3CC"/>
                </a:solidFill>
              </a:rPr>
              <a:t>Mario Cucciolito (Pet Shop) · Gruppo Amodio (Supermercati Pam) · Farmacia Tanzillo · NaturaSì Vomero. Rete personale Pomigliano/Napoli. Zero paid ads M1-M4.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457200" y="5029200"/>
            <a:ext cx="5486400" cy="960120"/>
          </a:xfrm>
          <a:prstGeom prst="rect">
            <a:avLst/>
          </a:prstGeom>
          <a:solidFill>
            <a:srgbClr val="0F2535"/>
          </a:solidFill>
          <a:ln w="12700">
            <a:solidFill>
              <a:srgbClr val="1A3A5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94360" y="5321808"/>
            <a:ext cx="164592" cy="164592"/>
          </a:xfrm>
          <a:prstGeom prst="ellipse">
            <a:avLst/>
          </a:prstGeom>
          <a:solidFill>
            <a:srgbClr val="0B7A75"/>
          </a:solidFill>
          <a:ln w="12700">
            <a:solidFill>
              <a:srgbClr val="0B7A7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68680" y="5084064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ADV Advertising Company — target B2B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868680" y="5376672"/>
            <a:ext cx="49377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900" dirty="0">
                <a:solidFill>
                  <a:srgbClr val="8CB3CC"/>
                </a:solidFill>
              </a:rPr>
              <a:t>Operatore logistico Napoli identificato come primo cliente Business tier (500-1.000 ordini/mese).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6217920" y="1874520"/>
            <a:ext cx="5486400" cy="960120"/>
          </a:xfrm>
          <a:prstGeom prst="rect">
            <a:avLst/>
          </a:prstGeom>
          <a:solidFill>
            <a:srgbClr val="0F2535"/>
          </a:solidFill>
          <a:ln w="12700">
            <a:solidFill>
              <a:srgbClr val="1A3A5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355080" y="2167128"/>
            <a:ext cx="164592" cy="164592"/>
          </a:xfrm>
          <a:prstGeom prst="ellipse">
            <a:avLst/>
          </a:prstGeom>
          <a:solidFill>
            <a:srgbClr val="0B7A75"/>
          </a:solidFill>
          <a:ln w="12700">
            <a:solidFill>
              <a:srgbClr val="0B7A75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629400" y="1929384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Stack tecnico production-ready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6629400" y="2221992"/>
            <a:ext cx="49377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900" dirty="0">
                <a:solidFill>
                  <a:srgbClr val="8CB3CC"/>
                </a:solidFill>
              </a:rPr>
              <a:t>Flutter + Supabase/PostGIS + Firebase + Twilio WhatsApp Business. Architettura verificata e deployable.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6217920" y="2926080"/>
            <a:ext cx="5486400" cy="960120"/>
          </a:xfrm>
          <a:prstGeom prst="rect">
            <a:avLst/>
          </a:prstGeom>
          <a:solidFill>
            <a:srgbClr val="0F2535"/>
          </a:solidFill>
          <a:ln w="12700">
            <a:solidFill>
              <a:srgbClr val="1A3A5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355080" y="3218688"/>
            <a:ext cx="164592" cy="164592"/>
          </a:xfrm>
          <a:prstGeom prst="ellipse">
            <a:avLst/>
          </a:prstGeom>
          <a:solidFill>
            <a:srgbClr val="0B7A75"/>
          </a:solidFill>
          <a:ln w="12700">
            <a:solidFill>
              <a:srgbClr val="0B7A75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629400" y="2980944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Struttura legale verificata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6629400" y="3273552"/>
            <a:ext cx="49377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900" dirty="0">
                <a:solidFill>
                  <a:srgbClr val="8CB3CC"/>
                </a:solidFill>
              </a:rPr>
              <a:t>CAV S.R.L. startup innovativa D.L. 3/2015. P.IVA 09532291219. Modello BlaBlaCar-style validato.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6217920" y="3977640"/>
            <a:ext cx="5486400" cy="960120"/>
          </a:xfrm>
          <a:prstGeom prst="rect">
            <a:avLst/>
          </a:prstGeom>
          <a:solidFill>
            <a:srgbClr val="0F2535"/>
          </a:solidFill>
          <a:ln w="12700">
            <a:solidFill>
              <a:srgbClr val="1A3A5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355080" y="4270248"/>
            <a:ext cx="164592" cy="16459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629400" y="4032504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Verifica Twilio in corso (Case #1380112390587406)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6629400" y="4325112"/>
            <a:ext cx="49377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900" dirty="0">
                <a:solidFill>
                  <a:srgbClr val="8CB3CC"/>
                </a:solidFill>
              </a:rPr>
              <a:t>Documentazione inviata. Fallback alternativo pronto. WhatsApp Business API operativa entro 15gg.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6217920" y="5029200"/>
            <a:ext cx="5486400" cy="960120"/>
          </a:xfrm>
          <a:prstGeom prst="rect">
            <a:avLst/>
          </a:prstGeom>
          <a:solidFill>
            <a:srgbClr val="0F2535"/>
          </a:solidFill>
          <a:ln w="12700">
            <a:solidFill>
              <a:srgbClr val="1A3A5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355080" y="5321808"/>
            <a:ext cx="164592" cy="164592"/>
          </a:xfrm>
          <a:prstGeom prst="ellipse">
            <a:avLst/>
          </a:prstGeom>
          <a:solidFill>
            <a:srgbClr val="0B7A75"/>
          </a:solidFill>
          <a:ln w="12700">
            <a:solidFill>
              <a:srgbClr val="0B7A75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629400" y="5084064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GitHub pubblico con pitch deck live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6629400" y="5376672"/>
            <a:ext cx="49377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900" dirty="0">
                <a:solidFill>
                  <a:srgbClr val="8CB3CC"/>
                </a:solidFill>
              </a:rPr>
              <a:t>github.com/creamoj-ai/dloop-pitch-deck — due diligence tecnica aperta. GitHub Pages attivo.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10789920" y="630936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334455"/>
                </a:solidFill>
              </a:rPr>
              <a:t>09 / 12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19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14B8A6"/>
                </a:solidFill>
              </a:rPr>
              <a:t>IL TEAM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640080"/>
            <a:ext cx="8229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Founder-led, asset-light,</a:t>
            </a:r>
            <a:endParaRPr lang="en-US" sz="34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esecuzione guerriglia.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457200" y="1920240"/>
            <a:ext cx="3520440" cy="3657600"/>
          </a:xfrm>
          <a:prstGeom prst="rect">
            <a:avLst/>
          </a:prstGeom>
          <a:solidFill>
            <a:srgbClr val="0F2535"/>
          </a:solidFill>
          <a:ln w="12700">
            <a:solidFill>
              <a:srgbClr val="1A3A5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85800" y="2103120"/>
            <a:ext cx="685800" cy="685800"/>
          </a:xfrm>
          <a:prstGeom prst="roundRect">
            <a:avLst>
              <a:gd name="adj" fmla="val 10667"/>
            </a:avLst>
          </a:prstGeom>
          <a:solidFill>
            <a:srgbClr val="0B7A75"/>
          </a:solidFill>
          <a:ln/>
        </p:spPr>
      </p:sp>
      <p:sp>
        <p:nvSpPr>
          <p:cNvPr id="6" name="Text 4"/>
          <p:cNvSpPr/>
          <p:nvPr/>
        </p:nvSpPr>
        <p:spPr>
          <a:xfrm>
            <a:off x="685800" y="210312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CA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40080" y="2926080"/>
            <a:ext cx="3154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Crescenzo Amodio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0080" y="3246120"/>
            <a:ext cx="3154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14B8A6"/>
                </a:solidFill>
              </a:rPr>
              <a:t>Founder &amp; CEO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640080" y="3566160"/>
            <a:ext cx="31546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000" dirty="0">
                <a:solidFill>
                  <a:srgbClr val="8CB3CC"/>
                </a:solidFill>
              </a:rPr>
              <a:t>Imprenditore seriale, Pomigliano d'Arco (NA). Gestisce CAV S.R.L. e B&amp;B Dloop. Fa sales direttamente M1-M4 (guerriglia). Coordina pitch MoodCapital.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297680" y="1920240"/>
            <a:ext cx="3520440" cy="3657600"/>
          </a:xfrm>
          <a:prstGeom prst="rect">
            <a:avLst/>
          </a:prstGeom>
          <a:solidFill>
            <a:srgbClr val="0F2535"/>
          </a:solidFill>
          <a:ln w="12700">
            <a:solidFill>
              <a:srgbClr val="1A3A5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526280" y="2103120"/>
            <a:ext cx="685800" cy="685800"/>
          </a:xfrm>
          <a:prstGeom prst="roundRect">
            <a:avLst>
              <a:gd name="adj" fmla="val 10667"/>
            </a:avLst>
          </a:prstGeom>
          <a:solidFill>
            <a:srgbClr val="0B7A75"/>
          </a:solidFill>
          <a:ln/>
        </p:spPr>
      </p:sp>
      <p:sp>
        <p:nvSpPr>
          <p:cNvPr id="12" name="Text 10"/>
          <p:cNvSpPr/>
          <p:nvPr/>
        </p:nvSpPr>
        <p:spPr>
          <a:xfrm>
            <a:off x="4526280" y="210312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SB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480560" y="2926080"/>
            <a:ext cx="3154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Saba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480560" y="3246120"/>
            <a:ext cx="3154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14B8A6"/>
                </a:solidFill>
              </a:rPr>
              <a:t>CTO / Lead Dev — P.IVA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4480560" y="3566160"/>
            <a:ext cx="31546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000" dirty="0">
                <a:solidFill>
                  <a:srgbClr val="8CB3CC"/>
                </a:solidFill>
              </a:rPr>
              <a:t>Imprenditore seriale e reduce da exit di successo nell'ambito digital. CTO e Lead Dev Dloop: ha progettato e sviluppato l'intera architettura Flutter + Supabase/PostGIS. Collabora come autonomo con comprovata expertise in prodotti SaaS scalabili.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8138160" y="1920240"/>
            <a:ext cx="3520440" cy="3657600"/>
          </a:xfrm>
          <a:prstGeom prst="rect">
            <a:avLst/>
          </a:prstGeom>
          <a:solidFill>
            <a:srgbClr val="0F2535"/>
          </a:solidFill>
          <a:ln w="12700">
            <a:solidFill>
              <a:srgbClr val="334455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366760" y="2103120"/>
            <a:ext cx="685800" cy="685800"/>
          </a:xfrm>
          <a:prstGeom prst="roundRect">
            <a:avLst>
              <a:gd name="adj" fmla="val 10667"/>
            </a:avLst>
          </a:prstGeom>
          <a:solidFill>
            <a:srgbClr val="2D3748"/>
          </a:solidFill>
          <a:ln/>
        </p:spPr>
      </p:sp>
      <p:sp>
        <p:nvSpPr>
          <p:cNvPr id="18" name="Text 16"/>
          <p:cNvSpPr/>
          <p:nvPr/>
        </p:nvSpPr>
        <p:spPr>
          <a:xfrm>
            <a:off x="8366760" y="210312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+4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8321040" y="2926080"/>
            <a:ext cx="3154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Hiring Plan 2026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8321040" y="3246120"/>
            <a:ext cx="3154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14B8A6"/>
                </a:solidFill>
              </a:rPr>
              <a:t>Con il seed round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8321040" y="3566160"/>
            <a:ext cx="31546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000" dirty="0">
                <a:solidFill>
                  <a:srgbClr val="8CB3CC"/>
                </a:solidFill>
              </a:rPr>
              <a:t>Customer Success (M4), Marketing Exec (M4), Sales BDR (M5 — 3 mesi prima del Conservative), Dev Junior P.IVA (M7), Back Office (M6).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57200" y="5806440"/>
            <a:ext cx="11247120" cy="548640"/>
          </a:xfrm>
          <a:prstGeom prst="rect">
            <a:avLst/>
          </a:prstGeom>
          <a:solidFill>
            <a:srgbClr val="0A2A28"/>
          </a:solidFill>
          <a:ln w="12700">
            <a:solidFill>
              <a:srgbClr val="0B7A75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0080" y="585216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7EC8A0"/>
                </a:solidFill>
              </a:rPr>
              <a:t>⚡  Vantaggio Guerriglia: CEO fa outreach M1-M4 (CAC €42/dealer). Sales BDR da M5 — 3 mesi prima del Conservative — anticipa il picco acquisizione.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10789920" y="630936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334455"/>
                </a:solidFill>
              </a:rPr>
              <a:t>10 / 12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A2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14B8A6"/>
                </a:solidFill>
              </a:rPr>
              <a:t>FUNDRAISING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640080"/>
            <a:ext cx="8229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€100K seed  |  Range €90K–€150K  |  Runway 16 mesi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457200" y="1920240"/>
            <a:ext cx="4114800" cy="4206240"/>
          </a:xfrm>
          <a:prstGeom prst="rect">
            <a:avLst/>
          </a:prstGeom>
          <a:solidFill>
            <a:srgbClr val="0A3030"/>
          </a:solidFill>
          <a:ln w="12700">
            <a:solidFill>
              <a:srgbClr val="0B7A75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457200" y="210312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300" kern="0" dirty="0">
                <a:solidFill>
                  <a:srgbClr val="14B8A6"/>
                </a:solidFill>
              </a:rPr>
              <a:t>ASK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457200" y="2423160"/>
            <a:ext cx="4114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14B8A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€100.000</a:t>
            </a:r>
            <a:endParaRPr lang="en-US" sz="3800" dirty="0"/>
          </a:p>
        </p:txBody>
      </p:sp>
      <p:sp>
        <p:nvSpPr>
          <p:cNvPr id="7" name="Text 5"/>
          <p:cNvSpPr/>
          <p:nvPr/>
        </p:nvSpPr>
        <p:spPr>
          <a:xfrm>
            <a:off x="457200" y="320040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CB3CC"/>
                </a:solidFill>
              </a:rPr>
              <a:t>(range €90K – €150K)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822960" y="3566160"/>
            <a:ext cx="3383280" cy="0"/>
          </a:xfrm>
          <a:prstGeom prst="line">
            <a:avLst/>
          </a:prstGeom>
          <a:noFill/>
          <a:ln w="12700">
            <a:solidFill>
              <a:srgbClr val="0B7A75"/>
            </a:solidFill>
            <a:prstDash val="dash"/>
          </a:ln>
        </p:spPr>
      </p:sp>
      <p:sp>
        <p:nvSpPr>
          <p:cNvPr id="9" name="Text 7"/>
          <p:cNvSpPr/>
          <p:nvPr/>
        </p:nvSpPr>
        <p:spPr>
          <a:xfrm>
            <a:off x="640080" y="370332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CB3CC"/>
                </a:solidFill>
              </a:rPr>
              <a:t>Struttura: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2011680" y="370332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Pure equity / SAFE note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40080" y="4142232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CB3CC"/>
                </a:solidFill>
              </a:rPr>
              <a:t>MoodCapital: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2011680" y="4142232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Contatto attivo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40080" y="4581144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CB3CC"/>
                </a:solidFill>
              </a:rPr>
              <a:t>Angel Inv.: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2011680" y="4581144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Investor network Sud Italia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40080" y="5020056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CB3CC"/>
                </a:solidFill>
              </a:rPr>
              <a:t>M3: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2011680" y="5020056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Primo batch 5 merchant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40080" y="5458968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CB3CC"/>
                </a:solidFill>
              </a:rPr>
              <a:t>M11: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2011680" y="5458968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Break-even @ 61 dealer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4937760" y="1920240"/>
            <a:ext cx="6492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14B8A6"/>
                </a:solidFill>
              </a:rPr>
              <a:t>USO DEI FONDI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4937760" y="2377440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CB3CC"/>
                </a:solidFill>
              </a:rPr>
              <a:t>Sviluppo prodotto (Saba)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4937760" y="2651760"/>
            <a:ext cx="6217920" cy="201168"/>
          </a:xfrm>
          <a:prstGeom prst="rect">
            <a:avLst/>
          </a:prstGeom>
          <a:solidFill>
            <a:srgbClr val="0A1929"/>
          </a:solidFill>
          <a:ln w="12700">
            <a:solidFill>
              <a:srgbClr val="1A3A5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937760" y="2651760"/>
            <a:ext cx="1554480" cy="201168"/>
          </a:xfrm>
          <a:prstGeom prst="rect">
            <a:avLst/>
          </a:prstGeom>
          <a:solidFill>
            <a:srgbClr val="0B7A75"/>
          </a:solidFill>
          <a:ln w="12700">
            <a:solidFill>
              <a:srgbClr val="0B7A75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1247120" y="2651760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14B8A6"/>
                </a:solidFill>
              </a:rPr>
              <a:t>25%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4937760" y="3063240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CB3CC"/>
                </a:solidFill>
              </a:rPr>
              <a:t>Sales &amp; Marketing M1-M8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937760" y="3337560"/>
            <a:ext cx="6217920" cy="201168"/>
          </a:xfrm>
          <a:prstGeom prst="rect">
            <a:avLst/>
          </a:prstGeom>
          <a:solidFill>
            <a:srgbClr val="0A1929"/>
          </a:solidFill>
          <a:ln w="12700">
            <a:solidFill>
              <a:srgbClr val="1A3A5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937760" y="3337560"/>
            <a:ext cx="2176272" cy="201168"/>
          </a:xfrm>
          <a:prstGeom prst="rect">
            <a:avLst/>
          </a:prstGeom>
          <a:solidFill>
            <a:srgbClr val="0B7A75"/>
          </a:solidFill>
          <a:ln w="12700">
            <a:solidFill>
              <a:srgbClr val="0B7A75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1247120" y="3337560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14B8A6"/>
                </a:solidFill>
              </a:rPr>
              <a:t>35%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4937760" y="3749040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CB3CC"/>
                </a:solidFill>
              </a:rPr>
              <a:t>CEO + Operations M1-M6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4937760" y="4023360"/>
            <a:ext cx="6217920" cy="201168"/>
          </a:xfrm>
          <a:prstGeom prst="rect">
            <a:avLst/>
          </a:prstGeom>
          <a:solidFill>
            <a:srgbClr val="0A1929"/>
          </a:solidFill>
          <a:ln w="12700">
            <a:solidFill>
              <a:srgbClr val="1A3A5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937760" y="4023360"/>
            <a:ext cx="1243584" cy="201168"/>
          </a:xfrm>
          <a:prstGeom prst="rect">
            <a:avLst/>
          </a:prstGeom>
          <a:solidFill>
            <a:srgbClr val="0B7A75"/>
          </a:solidFill>
          <a:ln w="12700">
            <a:solidFill>
              <a:srgbClr val="0B7A75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1247120" y="4023360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14B8A6"/>
                </a:solidFill>
              </a:rPr>
              <a:t>20%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4937760" y="4434840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CB3CC"/>
                </a:solidFill>
              </a:rPr>
              <a:t>Infrastruttura cloud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4937760" y="4709160"/>
            <a:ext cx="6217920" cy="201168"/>
          </a:xfrm>
          <a:prstGeom prst="rect">
            <a:avLst/>
          </a:prstGeom>
          <a:solidFill>
            <a:srgbClr val="0A1929"/>
          </a:solidFill>
          <a:ln w="12700">
            <a:solidFill>
              <a:srgbClr val="1A3A5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937760" y="4709160"/>
            <a:ext cx="746150" cy="201168"/>
          </a:xfrm>
          <a:prstGeom prst="rect">
            <a:avLst/>
          </a:prstGeom>
          <a:solidFill>
            <a:srgbClr val="0B7A75"/>
          </a:solidFill>
          <a:ln w="12700">
            <a:solidFill>
              <a:srgbClr val="0B7A75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1247120" y="4709160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14B8A6"/>
                </a:solidFill>
              </a:rPr>
              <a:t>12%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4937760" y="5120640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CB3CC"/>
                </a:solidFill>
              </a:rPr>
              <a:t>Legale, GDPR, Iubenda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4937760" y="5394960"/>
            <a:ext cx="6217920" cy="201168"/>
          </a:xfrm>
          <a:prstGeom prst="rect">
            <a:avLst/>
          </a:prstGeom>
          <a:solidFill>
            <a:srgbClr val="0A1929"/>
          </a:solidFill>
          <a:ln w="12700">
            <a:solidFill>
              <a:srgbClr val="1A3A50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4937760" y="5394960"/>
            <a:ext cx="497434" cy="201168"/>
          </a:xfrm>
          <a:prstGeom prst="rect">
            <a:avLst/>
          </a:prstGeom>
          <a:solidFill>
            <a:srgbClr val="0B7A75"/>
          </a:solidFill>
          <a:ln w="12700">
            <a:solidFill>
              <a:srgbClr val="0B7A75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1247120" y="5394960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14B8A6"/>
                </a:solidFill>
              </a:rPr>
              <a:t>8%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937760" y="5623560"/>
            <a:ext cx="6675120" cy="731520"/>
          </a:xfrm>
          <a:prstGeom prst="rect">
            <a:avLst/>
          </a:prstGeom>
          <a:solidFill>
            <a:srgbClr val="1A2D20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120640" y="5669280"/>
            <a:ext cx="6309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7EC8A0"/>
                </a:solidFill>
              </a:rPr>
              <a:t>⚡  Anno 1 Burn: €74.694 (–77% vs Conservative da €331K)</a:t>
            </a:r>
            <a:endParaRPr lang="en-US" sz="10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7EC8A0"/>
                </a:solidFill>
              </a:rPr>
              <a:t>Modello Guerriglia = breakeven con il seed senza secondo round.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10789920" y="630936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334455"/>
                </a:solidFill>
              </a:rPr>
              <a:t>11 / 12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D1F3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14B8A6"/>
                </a:solidFill>
              </a:rPr>
              <a:t>IL PROSSIMO PASSO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822960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Dloop è </a:t>
            </a:r>
            <a:pPr indent="0" marL="0">
              <a:lnSpc>
                <a:spcPct val="110000"/>
              </a:lnSpc>
              <a:buNone/>
            </a:pPr>
            <a:r>
              <a:rPr lang="en-US" sz="3600" b="1" dirty="0">
                <a:solidFill>
                  <a:srgbClr val="F59E0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pronto</a:t>
            </a:r>
            <a:pPr indent="0" marL="0">
              <a:lnSpc>
                <a:spcPct val="110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</a:t>
            </a:r>
            <a:endParaRPr lang="en-US" sz="36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Il mercato è </a:t>
            </a:r>
            <a:endParaRPr lang="en-US" sz="36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3600" b="1" dirty="0">
                <a:solidFill>
                  <a:srgbClr val="14B8A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aperto</a:t>
            </a:r>
            <a:pPr indent="0" marL="0">
              <a:lnSpc>
                <a:spcPct val="110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</a:t>
            </a:r>
            <a:endParaRPr lang="en-US" sz="36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Manca solo il </a:t>
            </a:r>
            <a:endParaRPr lang="en-US" sz="36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3600" b="1" dirty="0">
                <a:solidFill>
                  <a:srgbClr val="10B98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trigger.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457200" y="3566160"/>
            <a:ext cx="8686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8CB3CC"/>
                </a:solidFill>
              </a:rPr>
              <a:t>Cerchiamo €50K–€100K per portare Dloop ai primi 61 merchant,</a:t>
            </a:r>
            <a:endParaRPr lang="en-US" sz="13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8CB3CC"/>
                </a:solidFill>
              </a:rPr>
              <a:t>raggiungere il break-even a M11 e costruire il leader verticale</a:t>
            </a:r>
            <a:endParaRPr lang="en-US" sz="13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8CB3CC"/>
                </a:solidFill>
              </a:rPr>
              <a:t>del delivery locale italiano.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4526280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334455"/>
                </a:solidFill>
              </a:rPr>
              <a:t>Founder &amp; CEO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57200" y="4727448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Crescenzo Amodio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3657600" y="4526280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334455"/>
                </a:solidFill>
              </a:rPr>
              <a:t>Email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3657600" y="4727448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info@dloop.it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858000" y="4526280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334455"/>
                </a:solidFill>
              </a:rPr>
              <a:t>Sito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6858000" y="4727448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www.dloop.it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57200" y="5349240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334455"/>
                </a:solidFill>
              </a:rPr>
              <a:t>Pitch live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457200" y="5550408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4B8A6"/>
                </a:solidFill>
              </a:rPr>
              <a:t>creamoj-ai.github.io/dloop-pitch-deck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297680" y="5349240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334455"/>
                </a:solidFill>
              </a:rPr>
              <a:t>P.IVA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4297680" y="5550408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IT 09532291219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8138160" y="5349240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334455"/>
                </a:solidFill>
              </a:rPr>
              <a:t>Telefono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138160" y="5550408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+39 373 790 2538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457200" y="6446520"/>
            <a:ext cx="112471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2A3A4A"/>
                </a:solidFill>
              </a:rPr>
              <a:t>RISERVATO · CAV S.R.L. · Startup Innovativa ex D.L. 3/2015 · Napoli · 2026</a:t>
            </a:r>
            <a:endParaRPr lang="en-US" sz="700" dirty="0"/>
          </a:p>
        </p:txBody>
      </p:sp>
      <p:sp>
        <p:nvSpPr>
          <p:cNvPr id="18" name="Text 16"/>
          <p:cNvSpPr/>
          <p:nvPr/>
        </p:nvSpPr>
        <p:spPr>
          <a:xfrm>
            <a:off x="10789920" y="630936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334455"/>
                </a:solidFill>
              </a:rPr>
              <a:t>12 / 12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Dloop — Investor Pitch Deck 2026</dc:title>
  <dc:subject>Seed Round Pitch Deck</dc:subject>
  <dc:creator>Crescenzo Amodio — CAV S.R.L.</dc:creator>
  <cp:lastModifiedBy>Crescenzo Amodio — CAV S.R.L.</cp:lastModifiedBy>
  <cp:revision>1</cp:revision>
  <dcterms:created xsi:type="dcterms:W3CDTF">2026-03-19T03:49:38Z</dcterms:created>
  <dcterms:modified xsi:type="dcterms:W3CDTF">2026-03-19T03:49:38Z</dcterms:modified>
</cp:coreProperties>
</file>