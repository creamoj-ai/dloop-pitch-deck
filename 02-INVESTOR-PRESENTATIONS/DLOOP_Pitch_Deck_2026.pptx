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B7A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4B8A6"/>
                </a:solidFill>
              </a:rPr>
              <a:t>SEED PITCH · 2026 · RISERVATO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sistema operativo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delivery locale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italiano.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Dloop è la piattaforma SaaS B2B per operatori di delivery locale in Italia.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WhatsApp nativo · Modello P.IVA · Pricing accessibile alle PMI.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Azienda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CAV S.R.L. — Startup Innovativa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Mercato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Italia · Campania first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Fase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2648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Pre-revenue · MVP pronto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96112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€ 80.000 – € 100.000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inefficienze che frenano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delivery locale italiano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strumenti dedicati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Merchant gestiscono ordini via WhatsApp personale, telefono e carta. Zero tracciabilità, zero analytics, errori continui.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🏍️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senza sistema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I rider P.IVA ricevono incarichi via messaggi informali. Nessuna app, nessuna prova di consegna, nessun percorso ottimizzato.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globali inaccessibili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Onfleet, Tookan, LogiNext: $500+/mese in inglese, zero localizzazione IT, nessun supporto al modello P.IVA autonomo.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A2D20"/>
          </a:solidFill>
          <a:ln w="12700">
            <a:solidFill>
              <a:srgbClr val="2D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376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EC8A0"/>
                </a:solidFill>
              </a:rPr>
              <a:t>⚡  Gap di mercato: 45.000+ attività delivery attive in Campania. Solo il 3-5% usa software dedicato. Nessun player offre una soluzione verticale italiana con prezzi PMI.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LA SOLUZIONE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— tutto il delivery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un'unica piattaforma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4767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Dashboard web per merchant: ordini, assegnazione rider, tracking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58775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14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App Flutter per rider P.IVA: ordini, navigazione, prova di consegna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2783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WhatsApp Business via Twilio: notifiche ordine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6791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PostGIS + Supabase: routing geografico e zone di consegna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0799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Bot WhatsApp AI: raccolta ordini senza app dedicata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5760720" cy="86868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38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⚖️  Vantaggio legale: Dloop è puro SaaS — i rider fatturano P.IVA → Merchant.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Nessun rischio lavoro subordinato, zero liability Dloop (modello BlaBlaCar).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830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4B8A6"/>
                </a:solidFill>
              </a:rPr>
              <a:t>DLOOP · NOTIFICA ORDINE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03120"/>
            <a:ext cx="4480560" cy="1508760"/>
          </a:xfrm>
          <a:prstGeom prst="rect">
            <a:avLst/>
          </a:prstGeom>
          <a:solidFill>
            <a:srgbClr val="0D2D3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2103120"/>
            <a:ext cx="45720" cy="150876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214884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🛍️  Nuovo ordine #1042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Pizza Roma — €34,50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Via Garibaldi 12, Napoli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Rider: Marco R. ⭐4.8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ETA consegna: 22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0" y="3749040"/>
            <a:ext cx="4480560" cy="82296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794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✅  Confermato</a:t>
            </a:r>
            <a:endParaRPr lang="en-US" sz="10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Rispondi STOP per disattivare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4709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via Twilio · WhatsApp Business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MERCATO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mercato frammentato,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ancora un leader verticale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€2,1B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Mercato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locale Italia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SOM target: €12M/anno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45K+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Attività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Napoli + Caserta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Solo 3-5% usa software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€310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13816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Revenue media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per dealer/mese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1248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LTV: €7.440 (24 mesi)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5577840" cy="12344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634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🏆  Risparmio vs Alfonsino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Un dealer Dloop risparmia +€17.790/anno rispetto ad Alfonsino (marketplace 25-30%). Dloop è puro SaaS — zero commissioni sugli ordini.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4572000"/>
            <a:ext cx="5349240" cy="12344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663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Espansione geografica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95604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Campania → Sud Italia M12 → Nazionale M18. Ogni provincia è un mercato autonomo replicabile.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ANALISI COMPETITIVA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 competitor ha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posizionamento di Dloop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Player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Pricing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WhatsApp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nativo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Modello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P.IVA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Italiano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PMI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ready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SaaS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puro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20116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240280"/>
            <a:ext cx="54864" cy="47548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🟢 Dloop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68880" y="2240280"/>
            <a:ext cx="15544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22402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€39–€499/mese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23360" y="2240280"/>
            <a:ext cx="123444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2402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257800" y="2240280"/>
            <a:ext cx="123444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57800" y="224028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2240280"/>
            <a:ext cx="10972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2402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89520" y="2240280"/>
            <a:ext cx="10972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0" y="22402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686800" y="2240280"/>
            <a:ext cx="1097280" cy="47548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224028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2715768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71576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SaaS B2B —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2971800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9718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68880" y="2971800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68880" y="29718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$500+/mese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60" y="2971800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0" y="297180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257800" y="2971800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7800" y="297180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92240" y="2971800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29718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589520" y="2971800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89520" y="29718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686800" y="2971800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0" y="297180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3447288"/>
            <a:ext cx="20116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34472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468880" y="3447288"/>
            <a:ext cx="15544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34472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$99–$299/mese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023360" y="3447288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44728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257800" y="3447288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7800" y="344728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92240" y="3447288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92240" y="344728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7589520" y="3447288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9520" y="344728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8686800" y="3447288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686800" y="344728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57200" y="3922776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2277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468880" y="3922776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468880" y="392277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Enterprise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023360" y="392277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23360" y="392277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5257800" y="392277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57800" y="392277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492240" y="392277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92240" y="392277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589520" y="392277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89520" y="392277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8686800" y="392277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86800" y="392277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457200" y="4398264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8640" y="439826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Marketplace —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57200" y="4654296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46542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Glovo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468880" y="4654296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68880" y="465429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4023360" y="465429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023360" y="465429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5257800" y="4654296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257800" y="4654296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6492240" y="465429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92240" y="46542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589520" y="465429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89520" y="46542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8686800" y="4654296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686800" y="46542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457200" y="5129784"/>
            <a:ext cx="20116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57200" y="51297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Deliveroo / Just Eat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2468880" y="5129784"/>
            <a:ext cx="15544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468880" y="51297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023360" y="5129784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23360" y="512978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5257800" y="5129784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257800" y="512978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6492240" y="5129784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492240" y="51297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7589520" y="5129784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589520" y="51297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686800" y="5129784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686800" y="512978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457200" y="5605272"/>
            <a:ext cx="20116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7200" y="56052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Alfonsino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2468880" y="5605272"/>
            <a:ext cx="15544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68880" y="560527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4023360" y="5605272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23360" y="5605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5257800" y="5605272"/>
            <a:ext cx="123444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257800" y="5605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6492240" y="5605272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492240" y="56052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7589520" y="5605272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589520" y="56052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8686800" y="5605272"/>
            <a:ext cx="1097280" cy="47548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686800" y="560527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457200" y="6080760"/>
            <a:ext cx="20116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57200" y="60807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Uber Eats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2468880" y="6080760"/>
            <a:ext cx="15544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68880" y="608076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4023360" y="6080760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23360" y="608076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5257800" y="6080760"/>
            <a:ext cx="123444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257800" y="608076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6492240" y="6080760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492240" y="608076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7589520" y="6080760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7589520" y="608076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86800" y="6080760"/>
            <a:ext cx="109728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686800" y="608076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457200" y="6080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✓ = sì  |  ✗ = no  |  ~ = parziale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POSIZIONAMENTO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occupa il quadrante unico non presidiato da nessun competitor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623560" cy="22860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417320"/>
            <a:ext cx="5623560" cy="228600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703320"/>
            <a:ext cx="5623560" cy="2286000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3703320"/>
            <a:ext cx="5623560" cy="22860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LOCALE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B7A75"/>
                </a:solidFill>
              </a:rPr>
              <a:t>SaaS LOCALE  ★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GLOBALE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SAAS GLOBALE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11247120" cy="0"/>
          </a:xfrm>
          <a:prstGeom prst="line">
            <a:avLst/>
          </a:prstGeom>
          <a:noFill/>
          <a:ln w="12700">
            <a:solidFill>
              <a:srgbClr val="2A4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417320"/>
            <a:ext cx="0" cy="4572000"/>
          </a:xfrm>
          <a:prstGeom prst="line">
            <a:avLst/>
          </a:prstGeom>
          <a:noFill/>
          <a:ln w="12700">
            <a:solidFill>
              <a:srgbClr val="2A4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4728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4A6A7A"/>
                </a:solidFill>
              </a:rPr>
              <a:t>← MARKETPLACE          MODELLO          SAAS PURO 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72200" y="1801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↑ LOCALE / PMI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72200" y="40507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↓ GLOBALE / ENTERPRISE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09937" y="2265883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38537" y="2201875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🟢 DLOOP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62822" y="472516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13698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7868" y="423367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41285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21140" y="5059375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18181" y="4528566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9057" y="442341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Glovo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24835" y="4823460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75711" y="4718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Deliveroo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79826" y="5059375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0702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Uber Eats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38144" y="4725162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89020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Just Eat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13098" y="30540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63974" y="29489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Alfonsino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79458" y="4921758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30334" y="48166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Bringg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6126480"/>
            <a:ext cx="1124712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625449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</a:rPr>
              <a:t>Dloop — SaaS locale PMI (posizione unica)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108960" y="6254496"/>
            <a:ext cx="109728" cy="109728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7355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SaaS B2B delivery (Onfleet, Tookan, LogiNext, Bringg)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77840" y="6254496"/>
            <a:ext cx="109728" cy="109728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4243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</a:rPr>
              <a:t>Marketplace globali (Glovo, Deliveroo, Uber Eats, Just Eat)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046720" y="625449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Marketplace locale (Alfonsino)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Canone SaaS + fee per ordine.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Ricavi multipli, costi fissi.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SMB — Merchant singoli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50 ord. inclusi · €0,80/extra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21488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€39/mese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5394960" cy="548640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  ★ Più popolare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100 ord. inclusi · €0,80/extra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0" y="2761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€79/mese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9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648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250 ord. inclusi · €0,50/extra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3374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€149/mese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B2B Operator — Flotte delivery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708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Starter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500 ord. inclusi · €0,90/extra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0" y="43434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€99/mese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5394960" cy="438912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646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Business ★ Target ADV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065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1.500 ord. inclusi · €0,60/extra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0" y="48371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€199/mese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330952"/>
            <a:ext cx="5394960" cy="438912"/>
          </a:xfrm>
          <a:prstGeom prst="rect">
            <a:avLst/>
          </a:prstGeom>
          <a:solidFill>
            <a:srgbClr val="0A302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58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</a:rPr>
              <a:t>Business Plus ★ NUOVO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559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3.000 ord. inclusi · €0,45/extra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14800" y="53309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</a:rPr>
              <a:t>€299/mese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824728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852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60533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5.000 ord. inclusi · €0,30/extra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0" y="5824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€499/mese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1828800"/>
            <a:ext cx="5257800" cy="32004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83680" y="1920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UNIT ECONOMICS PER ORDINE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blended/ordine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2304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€ 2,07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2734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Costo variabile/ordine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27340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€0,55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31638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Margine/ordine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09760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€ 1,52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83680" y="3575304"/>
            <a:ext cx="484632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83680" y="3593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Gross Margin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509760" y="35935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368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media/dealer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0976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€ 310/mese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4453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Break-even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09760" y="4453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@ 61 dealer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5166360"/>
            <a:ext cx="5257800" cy="777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52303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💰  Saving dealer vs Alfonsino: +€17.790/anno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🚀  WhatsApp Bot add-on: +€39–78/mese/dealer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PROIEZIONI FINANZIARIE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M11 @ 61 dealer.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LTV:CAC 16-18x.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operativo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@ 61 dealer attivi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Gross Margin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SaaS: &gt;70%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16-18x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LTV:CAC Ratio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VC: &gt;3x ✓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mesi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CAC Payback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Benchmark: &lt;18 mesi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Crescita MRR — Scenario Guerriglia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801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seed ricevuto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€ 3.021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scala outreach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4114800"/>
            <a:ext cx="2468880" cy="777240"/>
          </a:xfrm>
          <a:prstGeom prst="rect">
            <a:avLst/>
          </a:prstGeom>
          <a:solidFill>
            <a:srgbClr val="0A2A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€ 13.000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break-even ✓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6868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097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€ 25.000+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regime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947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P&amp;L Anno 1 — Guerriglia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Burn totale Anno 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26880" y="4160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€ 74.694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61772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OpEx mensile (3 FTE)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26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€9.400–€13.800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512064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CAC Guerriglia M1-M4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26880" y="5166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€ 42/dealer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17920" y="5623560"/>
            <a:ext cx="5394960" cy="438912"/>
          </a:xfrm>
          <a:prstGeom prst="rect">
            <a:avLst/>
          </a:prstGeom>
          <a:solidFill>
            <a:srgbClr val="0A2A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Saving vs Alfonsino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+€17.790/anno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TRAZIONE E VALIDAZIONE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pronto. Primi merchant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già identificati.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 Rider Flutter — prototipo funzionante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Sviluppato da Saba (CTO, P.IVA). Ordini, navigazione, prova di consegna. Pronto deploy iOS/Android.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WhatsApp Bot dual-AI (Operai + Haiku)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Strategia parallela con fallback integrato. Costo ~€78/anno, 95% accuratezza. File deployment pronti.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27024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Pipeline warm: 3-5 merchant certi a M1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CEO outreach diretto. Mario Cucciolito (Pet) e rete personale Pomigliano/Napoli. Zero paid ads M1-M4.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ADV Advertising Company — target B2B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Operatore logistico Napoli identificato come primo cliente Business tier (500-1.000 ordini/mese).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Stack tecnico production-ready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Flutter + Supabase/PostGIS + Firebase + Twilio WhatsApp Business. Architettura verificata e deployable.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Struttura legale verificata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CAV S.R.L. startup innovativa D.L. 3/2015. P.IVA 09532291219. Modello BlaBlaCar-style validato.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27024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Gruppo Amodio — Supermercati Pam (Pomigliano/Napoli)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Grocery: supermercati catena Pam sul territorio. Pipeline B2B Operator, alto volume ordini.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Farmacia Tanzilo · Pomigliano d'Arco / Napoli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Farmacie con delivery medicine e parafarmaci. Tier SMB Pro — validazione verticale healthcare locale.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608076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55080" y="637336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29400" y="61356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NaturaSì Vomero · Napoli  +  PiuMe prodotti casa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629400" y="642823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Bio/organico e prodotti per la casa: due verticali distinti, alto valore scontrino, Napoli centro.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71323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55080" y="742492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9400" y="71871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Verifica Twilio in corso (Case #1380112390587406)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29400" y="74797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Documentazione inviata. Fallback alternativo pronto. WhatsApp Business API operativa entro 15gg.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81838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55080" y="84764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9400" y="8238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GitHub pubblico con pitch deck live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29400" y="85313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github.com/creamoj-ai/dloop-pitch-deck — due diligence tecnica aperta. GitHub Pages attivo.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Founder-led, asset-light,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guerriglia.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Crescenzo Amodio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Founder &amp; CEO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seriale, Pomigliano d'Arco (NA). Gestisce CAV S.R.L. e B&amp;B Dloop. Fa sales direttamente M1-M4 (guerriglia). Coordina pitch MoodCapital.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Saba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CTO / Lead Dev — P.IVA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 e reduce da exit di successo nell'ambito digital. CTO e Lead Dev Dloop: ha progettato e sviluppato l'intera architettura Flutter + Supabase/PostGIS. Collabora come autonomo con comprovata expertise in prodotti SaaS scalabili.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2D3748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Hiring Plan 2026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Con il seed 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Customer Success (M4), Marketing Exec (M4), Sales BDR (M5 — 3 mesi prima del Conservative), Dev Junior P.IVA (M7), Back Office (M6).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Vantaggio Guerriglia: CEO fa outreach M1-M4 (CAC €42/dealer). Sales BDR da M5 — 3 mesi prima del Conservative — anticipa il picco acquisizione.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FUNDRAISING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€80K–€100K seed.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Runway 16 mesi verso break-even.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114800" cy="4206240"/>
          </a:xfrm>
          <a:prstGeom prst="rect">
            <a:avLst/>
          </a:prstGeom>
          <a:solidFill>
            <a:srgbClr val="0A3030"/>
          </a:solidFill>
          <a:ln w="12700">
            <a:solidFill>
              <a:srgbClr val="0B7A7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ASK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€90.000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(range €80K – €100K)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338328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Struttura: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Pure equity / SAFE note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MoodCapital: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Contatto attivo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Angel Inv.: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4581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Investor network Sud Italia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5020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M3: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50200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Primo batch 5 merchant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5458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M11: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5458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@ 61 dealer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USO DEI FONDI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377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Sviluppo prodotto (Saba)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2651760"/>
            <a:ext cx="155448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247120" y="26517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Sales &amp; Marketing M1-M8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3375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3337560"/>
            <a:ext cx="2176272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35%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CEO + Operations M1-M6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0233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4023360"/>
            <a:ext cx="124358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40233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Infrastruttura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47091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0" y="4709160"/>
            <a:ext cx="74615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12%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5120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Legale, GDPR, Iubenda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53949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5394960"/>
            <a:ext cx="49743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53949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8%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5623560"/>
            <a:ext cx="6675120" cy="731520"/>
          </a:xfrm>
          <a:prstGeom prst="rect">
            <a:avLst/>
          </a:prstGeom>
          <a:solidFill>
            <a:srgbClr val="1A2D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Anno 1 Burn: €74.694 (–77% vs Conservative da €331K)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Modello Guerriglia = breakeven con il seed senza secondo round.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PROSSIMO PASSO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è 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mercato è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Manca solo il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5661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Cerchiamo €50K–€100K per portare Dloop ai primi 61 merchant,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raggiungere il break-even a M11 e costruire il leader verticale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del delivery locale italiano.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Founder &amp; CEO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Crescenzo Amodio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Email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info@dloop.it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Sito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www.dloop.it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Pitch live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creamoj-ai.github.io/dloop-pitch-deck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P.IVA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IT 09532291219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3816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Telefono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+39 373 790 2538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3A4A"/>
                </a:solidFill>
              </a:rPr>
              <a:t>RISERVATO · CAV S.R.L. · Startup Innovativa ex D.L. 3/2015 · Napoli · 2026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Dloop — Investor Pitch Deck 2026</dc:title>
  <dc:subject>Seed Round Pitch Deck</dc:subject>
  <dc:creator>Crescenzo Amodio — CAV S.R.L.</dc:creator>
  <cp:lastModifiedBy>Crescenzo Amodio — CAV S.R.L.</cp:lastModifiedBy>
  <cp:revision>1</cp:revision>
  <dcterms:created xsi:type="dcterms:W3CDTF">2026-03-19T03:41:40Z</dcterms:created>
  <dcterms:modified xsi:type="dcterms:W3CDTF">2026-03-19T03:41:40Z</dcterms:modified>
</cp:coreProperties>
</file>